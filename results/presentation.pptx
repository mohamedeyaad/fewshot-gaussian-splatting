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UNIVERSITÀ DEGLI STUDI DI GENOVA · ROBOTICS</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When does a generated photographhelp a 3D reconstruction?</a:t>
            </a:r>
          </a:p>
        </p:txBody>
      </p:sp>
      <p:sp>
        <p:nvSpPr>
          <p:cNvPr id="4" name="TextBox 3"/>
          <p:cNvSpPr txBox="1"/>
          <p:nvPr/>
        </p:nvSpPr>
        <p:spPr>
          <a:xfrm>
            <a:off x="658368" y="2029968"/>
            <a:ext cx="2547289" cy="1828800"/>
          </a:xfrm>
          <a:prstGeom prst="rect">
            <a:avLst/>
          </a:prstGeom>
          <a:noFill/>
        </p:spPr>
        <p:txBody>
          <a:bodyPr wrap="square">
            <a:spAutoFit/>
          </a:bodyPr>
          <a:lstStyle/>
          <a:p>
            <a:r>
              <a:rPr sz="3000" b="1">
                <a:solidFill>
                  <a:srgbClr val="16202A"/>
                </a:solidFill>
              </a:rPr>
              <a:t>236</a:t>
            </a:r>
          </a:p>
          <a:p>
            <a:r>
              <a:rPr sz="1200">
                <a:solidFill>
                  <a:srgbClr val="5C6E78"/>
                </a:solidFill>
              </a:rPr>
              <a:t>training runs</a:t>
            </a:r>
          </a:p>
        </p:txBody>
      </p:sp>
      <p:sp>
        <p:nvSpPr>
          <p:cNvPr id="5" name="TextBox 4"/>
          <p:cNvSpPr txBox="1"/>
          <p:nvPr/>
        </p:nvSpPr>
        <p:spPr>
          <a:xfrm>
            <a:off x="3434257" y="2029968"/>
            <a:ext cx="2547289" cy="1828800"/>
          </a:xfrm>
          <a:prstGeom prst="rect">
            <a:avLst/>
          </a:prstGeom>
          <a:noFill/>
        </p:spPr>
        <p:txBody>
          <a:bodyPr wrap="square">
            <a:spAutoFit/>
          </a:bodyPr>
          <a:lstStyle/>
          <a:p>
            <a:r>
              <a:rPr sz="3000" b="1">
                <a:solidFill>
                  <a:srgbClr val="16202A"/>
                </a:solidFill>
              </a:rPr>
              <a:t>2</a:t>
            </a:r>
          </a:p>
          <a:p>
            <a:r>
              <a:rPr sz="1200">
                <a:solidFill>
                  <a:srgbClr val="5C6E78"/>
                </a:solidFill>
              </a:rPr>
              <a:t>scenes: an outdoor object and an indoor room</a:t>
            </a:r>
          </a:p>
        </p:txBody>
      </p:sp>
      <p:sp>
        <p:nvSpPr>
          <p:cNvPr id="6" name="TextBox 5"/>
          <p:cNvSpPr txBox="1"/>
          <p:nvPr/>
        </p:nvSpPr>
        <p:spPr>
          <a:xfrm>
            <a:off x="6210146" y="2029968"/>
            <a:ext cx="2547289" cy="1828800"/>
          </a:xfrm>
          <a:prstGeom prst="rect">
            <a:avLst/>
          </a:prstGeom>
          <a:noFill/>
        </p:spPr>
        <p:txBody>
          <a:bodyPr wrap="square">
            <a:spAutoFit/>
          </a:bodyPr>
          <a:lstStyle/>
          <a:p>
            <a:r>
              <a:rPr sz="3000" b="1">
                <a:solidFill>
                  <a:srgbClr val="16202A"/>
                </a:solidFill>
              </a:rPr>
              <a:t>3</a:t>
            </a:r>
          </a:p>
          <a:p>
            <a:r>
              <a:rPr sz="1200">
                <a:solidFill>
                  <a:srgbClr val="5C6E78"/>
                </a:solidFill>
              </a:rPr>
              <a:t>augmentation strategies, 4 ratios, 3 seeds</a:t>
            </a:r>
          </a:p>
        </p:txBody>
      </p:sp>
      <p:sp>
        <p:nvSpPr>
          <p:cNvPr id="7" name="TextBox 6"/>
          <p:cNvSpPr txBox="1"/>
          <p:nvPr/>
        </p:nvSpPr>
        <p:spPr>
          <a:xfrm>
            <a:off x="8986035" y="2029968"/>
            <a:ext cx="2547289" cy="1828800"/>
          </a:xfrm>
          <a:prstGeom prst="rect">
            <a:avLst/>
          </a:prstGeom>
          <a:noFill/>
        </p:spPr>
        <p:txBody>
          <a:bodyPr wrap="square">
            <a:spAutoFit/>
          </a:bodyPr>
          <a:lstStyle/>
          <a:p>
            <a:r>
              <a:rPr sz="3000" b="1">
                <a:solidFill>
                  <a:srgbClr val="16202A"/>
                </a:solidFill>
              </a:rPr>
              <a:t>4</a:t>
            </a:r>
          </a:p>
          <a:p>
            <a:r>
              <a:rPr sz="1200">
                <a:solidFill>
                  <a:srgbClr val="5C6E78"/>
                </a:solidFill>
              </a:rPr>
              <a:t>controls, plus a depth prior that tests the mechanism</a:t>
            </a:r>
          </a:p>
        </p:txBody>
      </p:sp>
      <p:sp>
        <p:nvSpPr>
          <p:cNvPr id="8" name="TextBox 7"/>
          <p:cNvSpPr txBox="1"/>
          <p:nvPr/>
        </p:nvSpPr>
        <p:spPr>
          <a:xfrm>
            <a:off x="658368" y="3995928"/>
            <a:ext cx="10874959" cy="2404872"/>
          </a:xfrm>
          <a:prstGeom prst="rect">
            <a:avLst/>
          </a:prstGeom>
          <a:noFill/>
        </p:spPr>
        <p:txBody>
          <a:bodyPr wrap="square">
            <a:spAutoFit/>
          </a:bodyPr>
          <a:lstStyle/>
          <a:p>
            <a:pPr>
              <a:spcAft>
                <a:spcPts val="1000"/>
              </a:spcAft>
            </a:pPr>
            <a:r>
              <a:rPr sz="1600">
                <a:solidFill>
                  <a:srgbClr val="5C6E78"/>
                </a:solidFill>
              </a:rPr>
              <a:t>Few-shot Gaussian Splatting with diffusion-based data augmentation — and the boundary where augmentation stops helping and starts destroying.</a:t>
            </a:r>
          </a:p>
          <a:p>
            <a:pPr>
              <a:spcAft>
                <a:spcPts val="1000"/>
              </a:spcAft>
            </a:pPr>
            <a:r>
              <a:rPr sz="1400">
                <a:solidFill>
                  <a:srgbClr val="5C6E78"/>
                </a:solidFill>
              </a:rPr>
              <a:t>Mohamed Eyad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3D Gaussian Splatting is excellent — given enough photographs</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15.20</a:t>
            </a:r>
          </a:p>
          <a:p>
            <a:r>
              <a:rPr sz="1200">
                <a:solidFill>
                  <a:srgbClr val="5C6E78"/>
                </a:solidFill>
              </a:rPr>
              <a:t>dB · 5 views</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17.11</a:t>
            </a:r>
          </a:p>
          <a:p>
            <a:r>
              <a:rPr sz="1200">
                <a:solidFill>
                  <a:srgbClr val="5C6E78"/>
                </a:solidFill>
              </a:rPr>
              <a:t>dB · 10 views</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19.74</a:t>
            </a:r>
          </a:p>
          <a:p>
            <a:r>
              <a:rPr sz="1200">
                <a:solidFill>
                  <a:srgbClr val="5C6E78"/>
                </a:solidFill>
              </a:rPr>
              <a:t>dB · 20 views</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25.23</a:t>
            </a:r>
          </a:p>
          <a:p>
            <a:r>
              <a:rPr sz="1200">
                <a:solidFill>
                  <a:srgbClr val="5C6E78"/>
                </a:solidFill>
              </a:rPr>
              <a:t>dB · 219 views (ceiling)</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On truck (Tanks &amp; Temples), the full 219-view reconstruction reaches 25.23 dB. Cut to five photographs and it falls to 15.20 dB.</a:t>
            </a:r>
          </a:p>
          <a:p>
            <a:pPr>
              <a:spcAft>
                <a:spcPts val="1000"/>
              </a:spcAft>
            </a:pPr>
            <a:r>
              <a:rPr sz="1400">
                <a:solidFill>
                  <a:srgbClr val="16202A"/>
                </a:solidFill>
              </a:rPr>
              <a:t>A 10.04 dB gap. Photographs are expensive; a diffusion model generates images for free. Can generated views substitute for photographs that were never taken?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METHOD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Three ways to manufacture a training view</a:t>
            </a:r>
          </a:p>
        </p:txBody>
      </p:sp>
      <p:sp>
        <p:nvSpPr>
          <p:cNvPr id="4" name="TextBox 3"/>
          <p:cNvSpPr txBox="1"/>
          <p:nvPr/>
        </p:nvSpPr>
        <p:spPr>
          <a:xfrm>
            <a:off x="658368" y="1755648"/>
            <a:ext cx="3472586" cy="1828800"/>
          </a:xfrm>
          <a:prstGeom prst="rect">
            <a:avLst/>
          </a:prstGeom>
          <a:noFill/>
        </p:spPr>
        <p:txBody>
          <a:bodyPr wrap="square">
            <a:spAutoFit/>
          </a:bodyPr>
          <a:lstStyle/>
          <a:p/>
          <a:p>
            <a:r>
              <a:rPr sz="1500" b="1">
                <a:solidFill>
                  <a:srgbClr val="16202A"/>
                </a:solidFill>
              </a:rPr>
              <a:t>Inpainting</a:t>
            </a:r>
          </a:p>
          <a:p>
            <a:r>
              <a:rPr sz="1200">
                <a:solidFill>
                  <a:srgbClr val="5C6E78"/>
                </a:solidFill>
              </a:rPr>
              <a:t>Mask a region of a real photograph and let the model refill it. Same camera, same framing — no new geometry at all.</a:t>
            </a:r>
          </a:p>
        </p:txBody>
      </p:sp>
      <p:sp>
        <p:nvSpPr>
          <p:cNvPr id="5" name="TextBox 4"/>
          <p:cNvSpPr txBox="1"/>
          <p:nvPr/>
        </p:nvSpPr>
        <p:spPr>
          <a:xfrm>
            <a:off x="4359554" y="1755648"/>
            <a:ext cx="3472586" cy="1828800"/>
          </a:xfrm>
          <a:prstGeom prst="rect">
            <a:avLst/>
          </a:prstGeom>
          <a:noFill/>
        </p:spPr>
        <p:txBody>
          <a:bodyPr wrap="square">
            <a:spAutoFit/>
          </a:bodyPr>
          <a:lstStyle/>
          <a:p/>
          <a:p>
            <a:r>
              <a:rPr sz="1500" b="1">
                <a:solidFill>
                  <a:srgbClr val="16202A"/>
                </a:solidFill>
              </a:rPr>
              <a:t>Outpainting</a:t>
            </a:r>
          </a:p>
          <a:p>
            <a:r>
              <a:rPr sz="1200">
                <a:solidFill>
                  <a:srgbClr val="5C6E78"/>
                </a:solidFill>
              </a:rPr>
              <a:t>Keep the focal length, enlarge the canvas. The camera does not move; the lens gets wider. Supplies peripheral content.</a:t>
            </a:r>
          </a:p>
        </p:txBody>
      </p:sp>
      <p:sp>
        <p:nvSpPr>
          <p:cNvPr id="6" name="TextBox 5"/>
          <p:cNvSpPr txBox="1"/>
          <p:nvPr/>
        </p:nvSpPr>
        <p:spPr>
          <a:xfrm>
            <a:off x="8060740" y="1755648"/>
            <a:ext cx="3472586" cy="1828800"/>
          </a:xfrm>
          <a:prstGeom prst="rect">
            <a:avLst/>
          </a:prstGeom>
          <a:noFill/>
        </p:spPr>
        <p:txBody>
          <a:bodyPr wrap="square">
            <a:spAutoFit/>
          </a:bodyPr>
          <a:lstStyle/>
          <a:p/>
          <a:p>
            <a:r>
              <a:rPr sz="1500" b="1">
                <a:solidFill>
                  <a:srgbClr val="16202A"/>
                </a:solidFill>
              </a:rPr>
              <a:t>Pose-guided</a:t>
            </a:r>
          </a:p>
          <a:p>
            <a:r>
              <a:rPr sz="1200">
                <a:solidFill>
                  <a:srgbClr val="5C6E78"/>
                </a:solidFill>
              </a:rPr>
              <a:t>Estimate depth, anchor it to the sparse SfM points, warp to a chosen new camera, and let diffusion fill the disocclusions. The only one supplying a genuinely new viewpoint.</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Mask a region of a real photograph and let the model refill it. Same camera, same framing — no new geometry at all.</a:t>
            </a:r>
          </a:p>
          <a:p>
            <a:pPr>
              <a:spcAft>
                <a:spcPts val="1000"/>
              </a:spcAft>
            </a:pPr>
            <a:r>
              <a:rPr sz="1400">
                <a:solidFill>
                  <a:srgbClr val="16202A"/>
                </a:solidFill>
              </a:rPr>
              <a:t>Keep the focal length, enlarge the canvas. The camera does not move; the lens gets wider. Supplies peripheral content.</a:t>
            </a:r>
          </a:p>
          <a:p>
            <a:pPr>
              <a:spcAft>
                <a:spcPts val="1000"/>
              </a:spcAft>
            </a:pPr>
            <a:r>
              <a:rPr sz="1400">
                <a:solidFill>
                  <a:srgbClr val="16202A"/>
                </a:solidFill>
              </a:rPr>
              <a:t>Estimate depth, anchor it to the sparse SfM points, warp to a chosen new camera, and let diffusion fill the disocclusions. The only one supplying a genuinely new viewpoint.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DESIGN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measurement has to survive a 0.2 dB effect</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Frozen held-out split. Every run of a scene is scored against byte-identical test images — verified by hash across all 236 runs.</a:t>
            </a:r>
          </a:p>
          <a:p>
            <a:pPr>
              <a:spcAft>
                <a:spcPts val="900"/>
              </a:spcAft>
            </a:pPr>
            <a:r>
              <a:rPr sz="1500">
                <a:solidFill>
                  <a:srgbClr val="16202A"/>
                </a:solidFill>
              </a:rPr>
              <a:t>•  Paired within seed. Each augmented run is compared to its own seed's baseline, so the luck of which five views were drawn cancels instead of adding noise.</a:t>
            </a:r>
          </a:p>
          <a:p>
            <a:pPr>
              <a:spcAft>
                <a:spcPts val="900"/>
              </a:spcAft>
            </a:pPr>
            <a:r>
              <a:rPr sz="1500">
                <a:solidFill>
                  <a:srgbClr val="16202A"/>
                </a:solidFill>
              </a:rPr>
              <a:t>•  Measured noise floor. The identical configuration re-run three times varies by 0.039 dB, so an effect of 0.2 dB is resolvable and one of 0.03 dB is not.</a:t>
            </a:r>
          </a:p>
          <a:p>
            <a:pPr>
              <a:spcAft>
                <a:spcPts val="900"/>
              </a:spcAft>
            </a:pPr>
            <a:r>
              <a:rPr sz="1500">
                <a:solidFill>
                  <a:srgbClr val="16202A"/>
                </a:solidFill>
              </a:rPr>
              <a:t>•  Farthest-point sampling. Subsets are spread over the camera trajectory rather than drawn at random; the seed picks only the starting camera.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same augmentation helps at five views and harms at twenty</a:t>
            </a:r>
          </a:p>
        </p:txBody>
      </p:sp>
      <p:sp>
        <p:nvSpPr>
          <p:cNvPr id="4" name="TextBox 3"/>
          <p:cNvSpPr txBox="1"/>
          <p:nvPr/>
        </p:nvSpPr>
        <p:spPr>
          <a:xfrm>
            <a:off x="658368" y="1755648"/>
            <a:ext cx="1691640" cy="420624"/>
          </a:xfrm>
          <a:prstGeom prst="rect">
            <a:avLst/>
          </a:prstGeom>
          <a:noFill/>
        </p:spPr>
        <p:txBody>
          <a:bodyPr wrap="square">
            <a:spAutoFit/>
          </a:bodyPr>
          <a:lstStyle/>
          <a:p>
            <a:r>
              <a:rPr sz="1400">
                <a:solidFill>
                  <a:srgbClr val="5C6E78"/>
                </a:solidFill>
              </a:rPr>
              <a:t>k = 5</a:t>
            </a:r>
          </a:p>
        </p:txBody>
      </p:sp>
      <p:sp>
        <p:nvSpPr>
          <p:cNvPr id="5" name="Rectangle 4"/>
          <p:cNvSpPr/>
          <p:nvPr/>
        </p:nvSpPr>
        <p:spPr>
          <a:xfrm>
            <a:off x="2487168" y="1819656"/>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15887" y="1783080"/>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15887" y="1837944"/>
            <a:ext cx="1398624" cy="237744"/>
          </a:xfrm>
          <a:prstGeom prst="rect">
            <a:avLst/>
          </a:prstGeom>
          <a:solidFill>
            <a:srgbClr val="1C7C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81767" y="1755648"/>
            <a:ext cx="1051560" cy="420624"/>
          </a:xfrm>
          <a:prstGeom prst="rect">
            <a:avLst/>
          </a:prstGeom>
          <a:noFill/>
        </p:spPr>
        <p:txBody>
          <a:bodyPr wrap="square">
            <a:spAutoFit/>
          </a:bodyPr>
          <a:lstStyle/>
          <a:p>
            <a:pPr algn="ctr"/>
            <a:r>
              <a:rPr sz="1400" b="1">
                <a:solidFill>
                  <a:srgbClr val="1C7C54"/>
                </a:solidFill>
              </a:rPr>
              <a:t>+0.285</a:t>
            </a:r>
          </a:p>
        </p:txBody>
      </p:sp>
      <p:sp>
        <p:nvSpPr>
          <p:cNvPr id="9" name="TextBox 8"/>
          <p:cNvSpPr txBox="1"/>
          <p:nvPr/>
        </p:nvSpPr>
        <p:spPr>
          <a:xfrm>
            <a:off x="658368" y="2176272"/>
            <a:ext cx="1691640" cy="420624"/>
          </a:xfrm>
          <a:prstGeom prst="rect">
            <a:avLst/>
          </a:prstGeom>
          <a:noFill/>
        </p:spPr>
        <p:txBody>
          <a:bodyPr wrap="square">
            <a:spAutoFit/>
          </a:bodyPr>
          <a:lstStyle/>
          <a:p>
            <a:r>
              <a:rPr sz="1400">
                <a:solidFill>
                  <a:srgbClr val="5C6E78"/>
                </a:solidFill>
              </a:rPr>
              <a:t>k = 10</a:t>
            </a:r>
          </a:p>
        </p:txBody>
      </p:sp>
      <p:sp>
        <p:nvSpPr>
          <p:cNvPr id="10" name="Rectangle 9"/>
          <p:cNvSpPr/>
          <p:nvPr/>
        </p:nvSpPr>
        <p:spPr>
          <a:xfrm>
            <a:off x="2487168" y="2240280"/>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15887" y="2203704"/>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173" y="2258568"/>
            <a:ext cx="15714"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81767" y="2176272"/>
            <a:ext cx="1051560" cy="420624"/>
          </a:xfrm>
          <a:prstGeom prst="rect">
            <a:avLst/>
          </a:prstGeom>
          <a:noFill/>
        </p:spPr>
        <p:txBody>
          <a:bodyPr wrap="square">
            <a:spAutoFit/>
          </a:bodyPr>
          <a:lstStyle/>
          <a:p>
            <a:pPr algn="ctr"/>
            <a:r>
              <a:rPr sz="1400" b="1">
                <a:solidFill>
                  <a:srgbClr val="B3452C"/>
                </a:solidFill>
              </a:rPr>
              <a:t>-0.003</a:t>
            </a:r>
          </a:p>
        </p:txBody>
      </p:sp>
      <p:sp>
        <p:nvSpPr>
          <p:cNvPr id="14" name="TextBox 13"/>
          <p:cNvSpPr txBox="1"/>
          <p:nvPr/>
        </p:nvSpPr>
        <p:spPr>
          <a:xfrm>
            <a:off x="658368" y="2596896"/>
            <a:ext cx="1691640" cy="420624"/>
          </a:xfrm>
          <a:prstGeom prst="rect">
            <a:avLst/>
          </a:prstGeom>
          <a:noFill/>
        </p:spPr>
        <p:txBody>
          <a:bodyPr wrap="square">
            <a:spAutoFit/>
          </a:bodyPr>
          <a:lstStyle/>
          <a:p>
            <a:r>
              <a:rPr sz="1400">
                <a:solidFill>
                  <a:srgbClr val="5C6E78"/>
                </a:solidFill>
              </a:rPr>
              <a:t>k = 20</a:t>
            </a:r>
          </a:p>
        </p:txBody>
      </p:sp>
      <p:sp>
        <p:nvSpPr>
          <p:cNvPr id="15" name="Rectangle 14"/>
          <p:cNvSpPr/>
          <p:nvPr/>
        </p:nvSpPr>
        <p:spPr>
          <a:xfrm>
            <a:off x="2487168" y="2660904"/>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5887" y="2624328"/>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2916" y="2679192"/>
            <a:ext cx="3032971"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81767" y="2596896"/>
            <a:ext cx="1051560" cy="420624"/>
          </a:xfrm>
          <a:prstGeom prst="rect">
            <a:avLst/>
          </a:prstGeom>
          <a:noFill/>
        </p:spPr>
        <p:txBody>
          <a:bodyPr wrap="square">
            <a:spAutoFit/>
          </a:bodyPr>
          <a:lstStyle/>
          <a:p>
            <a:pPr algn="ctr"/>
            <a:r>
              <a:rPr sz="1400" b="1">
                <a:solidFill>
                  <a:srgbClr val="B3452C"/>
                </a:solidFill>
              </a:rPr>
              <a:t>-0.618</a:t>
            </a:r>
          </a:p>
        </p:txBody>
      </p:sp>
      <p:sp>
        <p:nvSpPr>
          <p:cNvPr id="19" name="TextBox 18"/>
          <p:cNvSpPr txBox="1"/>
          <p:nvPr/>
        </p:nvSpPr>
        <p:spPr>
          <a:xfrm>
            <a:off x="658368" y="3200400"/>
            <a:ext cx="10874959" cy="3200400"/>
          </a:xfrm>
          <a:prstGeom prst="rect">
            <a:avLst/>
          </a:prstGeom>
          <a:noFill/>
        </p:spPr>
        <p:txBody>
          <a:bodyPr wrap="square">
            <a:spAutoFit/>
          </a:bodyPr>
          <a:lstStyle/>
          <a:p>
            <a:pPr>
              <a:spcAft>
                <a:spcPts val="1000"/>
              </a:spcAft>
            </a:pPr>
            <a:r>
              <a:rPr sz="1400">
                <a:solidFill>
                  <a:srgbClr val="16202A"/>
                </a:solidFill>
              </a:rPr>
              <a:t>Outpainting at the 200% ratio, on truck, paired within seed. The treatment is identical at every subset size — only the number of real photographs changes. Best single condition anywhere in the study: +0.285 dB.</a:t>
            </a:r>
          </a:p>
          <a:p>
            <a:pPr>
              <a:spcAft>
                <a:spcPts val="1000"/>
              </a:spcAft>
            </a:pPr>
            <a:r>
              <a:rPr sz="1400">
                <a:solidFill>
                  <a:srgbClr val="5C6E78"/>
                </a:solidFill>
              </a:rPr>
              <a:t>For scale: one extra real photograph between k = 5 and k = 10 is worth +1.91 dB total. Augmentation buys a fraction of a photograph, and only while photographs are scarce.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GENERALISATION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It reproduces indoors</a:t>
            </a:r>
          </a:p>
        </p:txBody>
      </p:sp>
      <p:sp>
        <p:nvSpPr>
          <p:cNvPr id="4" name="TextBox 3"/>
          <p:cNvSpPr txBox="1"/>
          <p:nvPr/>
        </p:nvSpPr>
        <p:spPr>
          <a:xfrm>
            <a:off x="658368" y="1755648"/>
            <a:ext cx="3472586" cy="1828800"/>
          </a:xfrm>
          <a:prstGeom prst="rect">
            <a:avLst/>
          </a:prstGeom>
          <a:noFill/>
        </p:spPr>
        <p:txBody>
          <a:bodyPr wrap="square">
            <a:spAutoFit/>
          </a:bodyPr>
          <a:lstStyle/>
          <a:p>
            <a:r>
              <a:rPr sz="3000" b="1">
                <a:solidFill>
                  <a:srgbClr val="16202A"/>
                </a:solidFill>
              </a:rPr>
              <a:t>+0.989</a:t>
            </a:r>
          </a:p>
          <a:p>
            <a:r>
              <a:rPr sz="1200">
                <a:solidFill>
                  <a:srgbClr val="5C6E78"/>
                </a:solidFill>
              </a:rPr>
              <a:t>dB at k = 5 — stronger than outdoors</a:t>
            </a:r>
          </a:p>
        </p:txBody>
      </p:sp>
      <p:sp>
        <p:nvSpPr>
          <p:cNvPr id="5" name="TextBox 4"/>
          <p:cNvSpPr txBox="1"/>
          <p:nvPr/>
        </p:nvSpPr>
        <p:spPr>
          <a:xfrm>
            <a:off x="4359554" y="1755648"/>
            <a:ext cx="3472586" cy="1828800"/>
          </a:xfrm>
          <a:prstGeom prst="rect">
            <a:avLst/>
          </a:prstGeom>
          <a:noFill/>
        </p:spPr>
        <p:txBody>
          <a:bodyPr wrap="square">
            <a:spAutoFit/>
          </a:bodyPr>
          <a:lstStyle/>
          <a:p>
            <a:r>
              <a:rPr sz="3000" b="1">
                <a:solidFill>
                  <a:srgbClr val="16202A"/>
                </a:solidFill>
              </a:rPr>
              <a:t>-0.242</a:t>
            </a:r>
          </a:p>
          <a:p>
            <a:r>
              <a:rPr sz="1200">
                <a:solidFill>
                  <a:srgbClr val="5C6E78"/>
                </a:solidFill>
              </a:rPr>
              <a:t>dB at k = 20 — the sign flip repeats</a:t>
            </a:r>
          </a:p>
        </p:txBody>
      </p:sp>
      <p:sp>
        <p:nvSpPr>
          <p:cNvPr id="6" name="TextBox 5"/>
          <p:cNvSpPr txBox="1"/>
          <p:nvPr/>
        </p:nvSpPr>
        <p:spPr>
          <a:xfrm>
            <a:off x="8060740" y="1755648"/>
            <a:ext cx="3472586" cy="1828800"/>
          </a:xfrm>
          <a:prstGeom prst="rect">
            <a:avLst/>
          </a:prstGeom>
          <a:noFill/>
        </p:spPr>
        <p:txBody>
          <a:bodyPr wrap="square">
            <a:spAutoFit/>
          </a:bodyPr>
          <a:lstStyle/>
          <a:p>
            <a:r>
              <a:rPr sz="3000" b="1">
                <a:solidFill>
                  <a:srgbClr val="16202A"/>
                </a:solidFill>
              </a:rPr>
              <a:t>1.68</a:t>
            </a:r>
          </a:p>
          <a:p>
            <a:r>
              <a:rPr sz="1200">
                <a:solidFill>
                  <a:srgbClr val="5C6E78"/>
                </a:solidFill>
              </a:rPr>
              <a:t>dB baseline scatter between seeds — which five views you draw matters far more in a room</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34 further runs repeat the outpainting sweep on drjohnson (Deep Blending, 230 views, an indoor room) — a different capture regime, a different scene scale.</a:t>
            </a:r>
          </a:p>
          <a:p>
            <a:pPr>
              <a:spcAft>
                <a:spcPts val="1000"/>
              </a:spcAft>
            </a:pPr>
            <a:r>
              <a:rPr sz="1400">
                <a:solidFill>
                  <a:srgbClr val="16202A"/>
                </a:solidFill>
              </a:rPr>
              <a:t>Indoors all three metrics move together, where on truck outpainting bought PSNR while SSIM stayed flat. Agreement across three metrics with different failure modes is much harder to get by chance than agreement in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EXPLANATION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Two terms, one decaying and one constant</a:t>
            </a:r>
          </a:p>
        </p:txBody>
      </p:sp>
      <p:sp>
        <p:nvSpPr>
          <p:cNvPr id="4" name="TextBox 3"/>
          <p:cNvSpPr txBox="1"/>
          <p:nvPr/>
        </p:nvSpPr>
        <p:spPr>
          <a:xfrm>
            <a:off x="658368" y="1755648"/>
            <a:ext cx="5323179" cy="1828800"/>
          </a:xfrm>
          <a:prstGeom prst="rect">
            <a:avLst/>
          </a:prstGeom>
          <a:noFill/>
        </p:spPr>
        <p:txBody>
          <a:bodyPr wrap="square">
            <a:spAutoFit/>
          </a:bodyPr>
          <a:lstStyle/>
          <a:p/>
          <a:p>
            <a:r>
              <a:rPr sz="1500" b="1">
                <a:solidFill>
                  <a:srgbClr val="16202A"/>
                </a:solidFill>
              </a:rPr>
              <a:t>Coverage — decays</a:t>
            </a:r>
          </a:p>
          <a:p>
            <a:r>
              <a:rPr sz="1200">
                <a:solidFill>
                  <a:srgbClr val="5C6E78"/>
                </a:solidFill>
              </a:rPr>
              <a:t>A synthetic view supplies scene content no real camera saw. That is worth a lot at five views and very little at twenty: the per-view value of a real photograph falls by an order of magnitude across the same range.</a:t>
            </a:r>
          </a:p>
        </p:txBody>
      </p:sp>
      <p:sp>
        <p:nvSpPr>
          <p:cNvPr id="5" name="TextBox 4"/>
          <p:cNvSpPr txBox="1"/>
          <p:nvPr/>
        </p:nvSpPr>
        <p:spPr>
          <a:xfrm>
            <a:off x="6210147" y="1755648"/>
            <a:ext cx="5323179" cy="1828800"/>
          </a:xfrm>
          <a:prstGeom prst="rect">
            <a:avLst/>
          </a:prstGeom>
          <a:noFill/>
        </p:spPr>
        <p:txBody>
          <a:bodyPr wrap="square">
            <a:spAutoFit/>
          </a:bodyPr>
          <a:lstStyle/>
          <a:p/>
          <a:p>
            <a:r>
              <a:rPr sz="1500" b="1">
                <a:solidFill>
                  <a:srgbClr val="16202A"/>
                </a:solidFill>
              </a:rPr>
              <a:t>Inconsistency — does not decay</a:t>
            </a:r>
          </a:p>
          <a:p>
            <a:r>
              <a:rPr sz="1200">
                <a:solidFill>
                  <a:srgbClr val="5C6E78"/>
                </a:solidFill>
              </a:rPr>
              <a:t>A fabricated view contradicts the others. A contradiction is just as harmful at twenty views as at five — arguably worse, because it now contradicts a better-determined geometry.</a:t>
            </a:r>
          </a:p>
        </p:txBody>
      </p:sp>
      <p:sp>
        <p:nvSpPr>
          <p:cNvPr id="6" name="TextBox 5"/>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A synthetic view supplies scene content no real camera saw. That is worth a lot at five views and very little at twenty: the per-view value of a real photograph falls by an order of magnitude across the same range.</a:t>
            </a:r>
          </a:p>
          <a:p>
            <a:pPr>
              <a:spcAft>
                <a:spcPts val="1000"/>
              </a:spcAft>
            </a:pPr>
            <a:r>
              <a:rPr sz="1400">
                <a:solidFill>
                  <a:srgbClr val="16202A"/>
                </a:solidFill>
              </a:rPr>
              <a:t>A fabricated view contradicts the others. A contradiction is just as harmful at twenty views as at five — arguably worse, because it now contradicts a better-determined geometry.</a:t>
            </a:r>
          </a:p>
          <a:p>
            <a:pPr>
              <a:spcAft>
                <a:spcPts val="1000"/>
              </a:spcAft>
            </a:pPr>
            <a:r>
              <a:rPr sz="1400">
                <a:solidFill>
                  <a:srgbClr val="16202A"/>
                </a:solidFill>
              </a:rPr>
              <a:t>A decaying benefit plus a roughly constant cost is sufficient to produce a sign change. That is an explanation, and explanations are cheap — so it was made to predict something that could fail.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IS IT JUST THIS ONE MODEL?</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A second checkpoint reverses in the same place</a:t>
            </a:r>
          </a:p>
        </p:txBody>
      </p:sp>
      <p:graphicFrame>
        <p:nvGraphicFramePr>
          <p:cNvPr id="4" name="Table 3"/>
          <p:cNvGraphicFramePr>
            <a:graphicFrameLocks noGrp="1"/>
          </p:cNvGraphicFramePr>
          <p:nvPr/>
        </p:nvGraphicFramePr>
        <p:xfrm>
          <a:off x="658368" y="1755648"/>
          <a:ext cx="10874959" cy="1673351"/>
        </p:xfrm>
        <a:graphic>
          <a:graphicData uri="http://schemas.openxmlformats.org/drawingml/2006/table">
            <a:tbl>
              <a:tblPr firstRow="1" bandRow="1">
                <a:tableStyleId>{5C22544A-7EE6-4342-B048-85BDC9FD1C3A}</a:tableStyleId>
              </a:tblPr>
              <a:tblGrid>
                <a:gridCol w="3624986"/>
                <a:gridCol w="3624986"/>
                <a:gridCol w="3624987"/>
              </a:tblGrid>
              <a:tr h="418337">
                <a:tc>
                  <a:txBody>
                    <a:bodyPr/>
                    <a:lstStyle/>
                    <a:p>
                      <a:r>
                        <a:rPr sz="1500" b="1">
                          <a:solidFill>
                            <a:srgbClr val="16202A"/>
                          </a:solidFill>
                        </a:rPr>
                        <a:t>real views</a:t>
                      </a:r>
                    </a:p>
                  </a:txBody>
                  <a:tcPr/>
                </a:tc>
                <a:tc>
                  <a:txBody>
                    <a:bodyPr/>
                    <a:lstStyle/>
                    <a:p>
                      <a:r>
                        <a:rPr sz="1500" b="1">
                          <a:solidFill>
                            <a:srgbClr val="16202A"/>
                          </a:solidFill>
                        </a:rPr>
                        <a:t>SD 1.5</a:t>
                      </a:r>
                    </a:p>
                  </a:txBody>
                  <a:tcPr/>
                </a:tc>
                <a:tc>
                  <a:txBody>
                    <a:bodyPr/>
                    <a:lstStyle/>
                    <a:p>
                      <a:r>
                        <a:rPr sz="1500" b="1">
                          <a:solidFill>
                            <a:srgbClr val="16202A"/>
                          </a:solidFill>
                        </a:rPr>
                        <a:t>Dreamshaper-8</a:t>
                      </a:r>
                    </a:p>
                  </a:txBody>
                  <a:tcPr/>
                </a:tc>
              </a:tr>
              <a:tr h="418337">
                <a:tc>
                  <a:txBody>
                    <a:bodyPr/>
                    <a:lstStyle/>
                    <a:p>
                      <a:r>
                        <a:rPr sz="1500">
                          <a:solidFill>
                            <a:srgbClr val="16202A"/>
                          </a:solidFill>
                        </a:rPr>
                        <a:t>5</a:t>
                      </a:r>
                    </a:p>
                  </a:txBody>
                  <a:tcPr/>
                </a:tc>
                <a:tc>
                  <a:txBody>
                    <a:bodyPr/>
                    <a:lstStyle/>
                    <a:p>
                      <a:r>
                        <a:rPr sz="1500">
                          <a:solidFill>
                            <a:srgbClr val="1C7C54"/>
                          </a:solidFill>
                        </a:rPr>
                        <a:t>+0.285</a:t>
                      </a:r>
                    </a:p>
                  </a:txBody>
                  <a:tcPr/>
                </a:tc>
                <a:tc>
                  <a:txBody>
                    <a:bodyPr/>
                    <a:lstStyle/>
                    <a:p>
                      <a:r>
                        <a:rPr sz="1500">
                          <a:solidFill>
                            <a:srgbClr val="1C7C54"/>
                          </a:solidFill>
                        </a:rPr>
                        <a:t>+0.193</a:t>
                      </a:r>
                    </a:p>
                  </a:txBody>
                  <a:tcPr/>
                </a:tc>
              </a:tr>
              <a:tr h="418337">
                <a:tc>
                  <a:txBody>
                    <a:bodyPr/>
                    <a:lstStyle/>
                    <a:p>
                      <a:r>
                        <a:rPr sz="1500">
                          <a:solidFill>
                            <a:srgbClr val="16202A"/>
                          </a:solidFill>
                        </a:rPr>
                        <a:t>10</a:t>
                      </a:r>
                    </a:p>
                  </a:txBody>
                  <a:tcPr/>
                </a:tc>
                <a:tc>
                  <a:txBody>
                    <a:bodyPr/>
                    <a:lstStyle/>
                    <a:p>
                      <a:r>
                        <a:rPr sz="1500">
                          <a:solidFill>
                            <a:srgbClr val="B3452C"/>
                          </a:solidFill>
                        </a:rPr>
                        <a:t>-0.003</a:t>
                      </a:r>
                    </a:p>
                  </a:txBody>
                  <a:tcPr/>
                </a:tc>
                <a:tc>
                  <a:txBody>
                    <a:bodyPr/>
                    <a:lstStyle/>
                    <a:p>
                      <a:r>
                        <a:rPr sz="1500">
                          <a:solidFill>
                            <a:srgbClr val="B3452C"/>
                          </a:solidFill>
                        </a:rPr>
                        <a:t>-0.163</a:t>
                      </a:r>
                    </a:p>
                  </a:txBody>
                  <a:tcPr/>
                </a:tc>
              </a:tr>
              <a:tr h="418340">
                <a:tc>
                  <a:txBody>
                    <a:bodyPr/>
                    <a:lstStyle/>
                    <a:p>
                      <a:r>
                        <a:rPr sz="1500">
                          <a:solidFill>
                            <a:srgbClr val="16202A"/>
                          </a:solidFill>
                        </a:rPr>
                        <a:t>20</a:t>
                      </a:r>
                    </a:p>
                  </a:txBody>
                  <a:tcPr/>
                </a:tc>
                <a:tc>
                  <a:txBody>
                    <a:bodyPr/>
                    <a:lstStyle/>
                    <a:p>
                      <a:r>
                        <a:rPr sz="1500">
                          <a:solidFill>
                            <a:srgbClr val="B3452C"/>
                          </a:solidFill>
                        </a:rPr>
                        <a:t>-0.618</a:t>
                      </a:r>
                    </a:p>
                  </a:txBody>
                  <a:tcPr/>
                </a:tc>
                <a:tc>
                  <a:txBody>
                    <a:bodyPr/>
                    <a:lstStyle/>
                    <a:p>
                      <a:r>
                        <a:rPr sz="1500">
                          <a:solidFill>
                            <a:srgbClr val="B3452C"/>
                          </a:solidFill>
                        </a:rPr>
                        <a:t>-0.825</a:t>
                      </a:r>
                    </a:p>
                  </a:txBody>
                  <a:tcPr/>
                </a:tc>
              </a:tr>
            </a:tbl>
          </a:graphicData>
        </a:graphic>
      </p:graphicFrame>
      <p:sp>
        <p:nvSpPr>
          <p:cNvPr id="5" name="TextBox 4"/>
          <p:cNvSpPr txBox="1"/>
          <p:nvPr/>
        </p:nvSpPr>
        <p:spPr>
          <a:xfrm>
            <a:off x="658368" y="3657599"/>
            <a:ext cx="10874959" cy="2743201"/>
          </a:xfrm>
          <a:prstGeom prst="rect">
            <a:avLst/>
          </a:prstGeom>
          <a:noFill/>
        </p:spPr>
        <p:txBody>
          <a:bodyPr wrap="square">
            <a:spAutoFit/>
          </a:bodyPr>
          <a:lstStyle/>
          <a:p>
            <a:pPr>
              <a:spcAft>
                <a:spcPts val="1000"/>
              </a:spcAft>
            </a:pPr>
            <a:r>
              <a:rPr sz="1600">
                <a:solidFill>
                  <a:srgbClr val="16202A"/>
                </a:solidFill>
              </a:rPr>
              <a:t>The obvious objection: perhaps the crossover is a property of Stable Diffusion 1.5 rather than of augmentation. Dreamshaper-8 — same architecture, same VRAM budget, better photorealism — answers it.</a:t>
            </a:r>
          </a:p>
          <a:p>
            <a:pPr>
              <a:spcAft>
                <a:spcPts val="1000"/>
              </a:spcAft>
            </a:pPr>
            <a:r>
              <a:rPr sz="1400">
                <a:solidFill>
                  <a:srgbClr val="16202A"/>
                </a:solidFill>
              </a:rPr>
              <a:t>Same reversal, different checkpoint. And the better-looking model is worse at every subset size — it even crosses over earlier, turning negative at k = 10 where SD 1.5 is still at zero.</a:t>
            </a:r>
          </a:p>
          <a:p>
            <a:pPr>
              <a:spcAft>
                <a:spcPts val="1000"/>
              </a:spcAft>
            </a:pPr>
            <a:r>
              <a:rPr sz="1400">
                <a:solidFill>
                  <a:srgbClr val="5C6E78"/>
                </a:solidFill>
              </a:rPr>
              <a:t>A model finetuned to make each image individually more convincing has no reason to be more consistent between images. Photorealism is not what a synthetic view contributes.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PREDICTION 1 · HELD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Constraint without a viewpoint should never cross over</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+0.259</a:t>
            </a:r>
          </a:p>
          <a:p>
            <a:r>
              <a:rPr sz="1200">
                <a:solidFill>
                  <a:srgbClr val="5C6E78"/>
                </a:solidFill>
              </a:rPr>
              <a:t>dB at k = 5</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+0.163</a:t>
            </a:r>
          </a:p>
          <a:p>
            <a:r>
              <a:rPr sz="1200">
                <a:solidFill>
                  <a:srgbClr val="5C6E78"/>
                </a:solidFill>
              </a:rPr>
              <a:t>dB at k = 10</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+0.155</a:t>
            </a:r>
          </a:p>
          <a:p>
            <a:r>
              <a:rPr sz="1200">
                <a:solidFill>
                  <a:srgbClr val="5C6E78"/>
                </a:solidFill>
              </a:rPr>
              <a:t>dB at k = 20 — still positive</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+0.714</a:t>
            </a:r>
          </a:p>
          <a:p>
            <a:r>
              <a:rPr sz="1200">
                <a:solidFill>
                  <a:srgbClr val="5C6E78"/>
                </a:solidFill>
              </a:rPr>
              <a:t>dB combined with outpainting at k = 5 — the largest gain in the study</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If the harm is inconsistency, an intervention that supplies geometric constraint without inventing a camera has no contradictory geometry to accumulate — so it should stay positive at every subset size.</a:t>
            </a:r>
          </a:p>
          <a:p>
            <a:pPr>
              <a:spcAft>
                <a:spcPts val="1000"/>
              </a:spcAft>
            </a:pPr>
            <a:r>
              <a:rPr sz="1400">
                <a:solidFill>
                  <a:srgbClr val="16202A"/>
                </a:solidFill>
              </a:rPr>
              <a:t>Monocular depth regularisation is that intervention: a depth map per real photograph, anchored to true scale against the sparse SfM points that view observes (median R² 0.964). Synthetic views receive no depth supervision — estimating depth from a fabricated image would be circular.</a:t>
            </a:r>
          </a:p>
          <a:p>
            <a:pPr>
              <a:spcAft>
                <a:spcPts val="1000"/>
              </a:spcAft>
            </a:pPr>
            <a:r>
              <a:rPr sz="1400">
                <a:solidFill>
                  <a:srgbClr val="5C6E78"/>
                </a:solidFill>
              </a:rPr>
              <a:t>Coverage crosses over; constraint does not. The two interventions differ in exactly one respect — whether a camera that never existed is invented.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CONCLUSION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both scenes say together</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Diffusion augmentation is not free coverage. It helps only while real views are in the single digits, and the crossover reproduces outdoors and indoors.</a:t>
            </a:r>
          </a:p>
          <a:p>
            <a:pPr>
              <a:spcAft>
                <a:spcPts val="900"/>
              </a:spcAft>
            </a:pPr>
            <a:r>
              <a:rPr sz="1500">
                <a:solidFill>
                  <a:srgbClr val="16202A"/>
                </a:solidFill>
              </a:rPr>
              <a:t>•  The mechanism is pose novelty. Four controls exclude image quality, hallucinated hole content, warping artifacts, and mere view repetition.</a:t>
            </a:r>
          </a:p>
          <a:p>
            <a:pPr>
              <a:spcAft>
                <a:spcPts val="900"/>
              </a:spcAft>
            </a:pPr>
            <a:r>
              <a:rPr sz="1500">
                <a:solidFill>
                  <a:srgbClr val="16202A"/>
                </a:solidFill>
              </a:rPr>
              <a:t>•  Constraint beats invention. A depth prior is positive at every subset size and compounds with augmentation; anything that invents a camera eventually reverses sign.</a:t>
            </a:r>
          </a:p>
          <a:p>
            <a:pPr>
              <a:spcAft>
                <a:spcPts val="900"/>
              </a:spcAft>
            </a:pPr>
            <a:r>
              <a:rPr sz="1500">
                <a:solidFill>
                  <a:srgbClr val="16202A"/>
                </a:solidFill>
              </a:rPr>
              <a:t>•  The two effects are separable. Outpainting supplies peripheral content, the depth prior supplies constraint — and combining them exceeds the sum of the parts at every subset size.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LIMITATIONS</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this does not show</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The 7,000-iteration setting is load-bearing. At 30,000 the benefit does not survive — outpainting at k = 5 falls from +0.285 to -0.078 dB, while the harm at k = 20 persists. The plain baselines fall too (15.20 → 15.04), so 30,000 is past this regime's optimum, not better converged. Early stopping is correct here, but the gain is conditional on it.</a:t>
            </a:r>
          </a:p>
          <a:p>
            <a:pPr>
              <a:spcAft>
                <a:spcPts val="900"/>
              </a:spcAft>
            </a:pPr>
            <a:r>
              <a:rPr sz="1500">
                <a:solidFill>
                  <a:srgbClr val="16202A"/>
                </a:solidFill>
              </a:rPr>
              <a:t>•  Two checkpoints, one architecture. Dreamshaper-8 is an SD 1.5 finetune, so the swap varies image quality, not architecture. SDXL needs ~6.5 GB and FLUX ~54 GB against this card's 4 GB.</a:t>
            </a:r>
          </a:p>
          <a:p>
            <a:pPr>
              <a:spcAft>
                <a:spcPts val="900"/>
              </a:spcAft>
            </a:pPr>
            <a:r>
              <a:rPr sz="1500">
                <a:solidFill>
                  <a:srgbClr val="16202A"/>
                </a:solidFill>
              </a:rPr>
              <a:t>•  Three seeds. A consistency check, not statistical significance.</a:t>
            </a:r>
          </a:p>
          <a:p>
            <a:pPr>
              <a:spcAft>
                <a:spcPts val="900"/>
              </a:spcAft>
            </a:pPr>
            <a:r>
              <a:rPr sz="1500">
                <a:solidFill>
                  <a:srgbClr val="16202A"/>
                </a:solidFill>
              </a:rPr>
              <a:t>•  Two scenes, one partially swept. The second scene was swept for outpainting only, at k = 5 and k = 20. "Inpainting is flat" and "pose-guided always hurts" remain single-scene claims.</a:t>
            </a:r>
          </a:p>
          <a:p>
            <a:pPr>
              <a:spcAft>
                <a:spcPts val="900"/>
              </a:spcAft>
            </a:pPr>
            <a:r>
              <a:rPr sz="1500">
                <a:solidFill>
                  <a:srgbClr val="16202A"/>
                </a:solidFill>
              </a:rPr>
              <a:t>•  The depth prior was tested on one scene, at one ratio. Whether its immunity to the crossover survives indoors is untested.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IN ONE SENTENCE</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Augmentation buys coverage, and pays for it in consistency.</a:t>
            </a:r>
          </a:p>
        </p:txBody>
      </p:sp>
      <p:sp>
        <p:nvSpPr>
          <p:cNvPr id="4" name="TextBox 3"/>
          <p:cNvSpPr txBox="1"/>
          <p:nvPr/>
        </p:nvSpPr>
        <p:spPr>
          <a:xfrm>
            <a:off x="658368" y="2029968"/>
            <a:ext cx="10874959" cy="4370832"/>
          </a:xfrm>
          <a:prstGeom prst="rect">
            <a:avLst/>
          </a:prstGeom>
          <a:noFill/>
        </p:spPr>
        <p:txBody>
          <a:bodyPr wrap="square">
            <a:spAutoFit/>
          </a:bodyPr>
          <a:lstStyle/>
          <a:p>
            <a:pPr>
              <a:spcAft>
                <a:spcPts val="1000"/>
              </a:spcAft>
            </a:pPr>
            <a:r>
              <a:rPr sz="1600">
                <a:solidFill>
                  <a:srgbClr val="16202A"/>
                </a:solidFill>
              </a:rPr>
              <a:t>Whether that trade is worth taking depends on how scarce the real photographs are. At five views the coverage is worth the inconsistency. By twenty it is not — and the same treatment that helped now harms.</a:t>
            </a:r>
          </a:p>
          <a:p>
            <a:pPr>
              <a:spcAft>
                <a:spcPts val="1000"/>
              </a:spcAft>
            </a:pPr>
            <a:r>
              <a:rPr sz="1400">
                <a:solidFill>
                  <a:srgbClr val="5C6E78"/>
                </a:solidFill>
              </a:rPr>
              <a:t>236 runs · 2 scenes · every held-out set hash-verified identical within its scene · code and full report in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