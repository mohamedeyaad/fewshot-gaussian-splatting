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[45s]</a:t>
            </a:r>
          </a:p>
          <a:p>
            <a:r>
              <a:t>Good morning. My project asks one question: can AI-generated images replace photographs you never took, when you are reconstructing a 3D scene?</a:t>
            </a:r>
          </a:p>
          <a:p>
            <a:r>
              <a:t>The short answer is yes, but only in a narrow window — and I spent most of the project working out where that window ends and why.</a:t>
            </a:r>
          </a:p>
          <a:p>
            <a:r>
              <a:t>236 training runs, two scenes, and every number here is read straight out of the raw results files, not typed in by hand.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[60s]</a:t>
            </a:r>
          </a:p>
          <a:p>
            <a:r>
              <a:t>Gaussian Splatting reconstructs a 3D scene from photographs. Given enough of them it is excellent — 25.2 dB on this outdoor scene from 219 photos.</a:t>
            </a:r>
          </a:p>
          <a:p>
            <a:r>
              <a:t>Cut it to five photos and it collapses to 15.2. That is a ten decibel gap.</a:t>
            </a:r>
          </a:p>
          <a:p>
            <a:r>
              <a:t>Photographs are expensive to collect. A diffusion model generates images for free. So the question is whether free images can buy back that gap.</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[40s]</a:t>
            </a:r>
          </a:p>
          <a:p>
            <a:r>
              <a:t>This is the same held-out camera reconstructed from 5, 10, 20 and 219 photos.</a:t>
            </a:r>
          </a:p>
          <a:p>
            <a:r>
              <a:t>The important thing is what fails at five views. The shape of the truck is broadly right. What costs the ten decibels is the haze, the floaters, and the surfaces the optimiser had no second view to pin down.</a:t>
            </a:r>
          </a:p>
          <a:p>
            <a:r>
              <a:t>So the deficit is coverage, not detail. That matters later.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[60s]</a:t>
            </a:r>
          </a:p>
          <a:p>
            <a:r>
              <a:t>I tested three strategies.</a:t>
            </a:r>
          </a:p>
          <a:p>
            <a:r>
              <a:t>Inpainting masks part of a real photo and refills it. Same camera, same framing — no new geometry at all. It is the control, really.</a:t>
            </a:r>
          </a:p>
          <a:p>
            <a:r>
              <a:t>Outpainting keeps the lens and enlarges the frame. The camera does not move; it just sees wider. That supplies peripheral content.</a:t>
            </a:r>
          </a:p>
          <a:p>
            <a:r>
              <a:t>Pose-guided is the ambitious one. Estimate depth, warp the image to a new camera position I choose, and let diffusion fill the holes. It is the only one that invents a genuinely new viewpoint.</a:t>
            </a:r>
          </a:p>
          <a:p>
            <a:r>
              <a:t>Each is generated at four ratios, three subset sizes, three seeds.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[55s]</a:t>
            </a:r>
          </a:p>
          <a:p>
            <a:r>
              <a:t>The effects here are small, so the measurement has to be careful.</a:t>
            </a:r>
          </a:p>
          <a:p>
            <a:r>
              <a:t>Every run of a scene is scored against byte-identical held-out images — I verify that by hash across all 236 runs.</a:t>
            </a:r>
          </a:p>
          <a:p>
            <a:r>
              <a:t>Every augmented run is compared against its own seed's baseline. Which five photos you happen to draw matters enormously, and pairing cancels it.</a:t>
            </a:r>
          </a:p>
          <a:p>
            <a:r>
              <a:t>And I measured the noise floor: the identical configuration run three times varies by 0.039 dB. So a 0.2 dB effect is real and a 0.03 dB effect is not.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[75s]</a:t>
            </a:r>
          </a:p>
          <a:p>
            <a:r>
              <a:t>This is the main result.</a:t>
            </a:r>
          </a:p>
          <a:p>
            <a:r>
              <a:t>Outpainting at the 200 percent ratio. At five real views it gains 0.285 dB. At ten it is zero. At twenty it LOSES 0.618.</a:t>
            </a:r>
          </a:p>
          <a:p>
            <a:r>
              <a:t>The treatment is identical. The only thing that changed is how many real photographs it was added to.</a:t>
            </a:r>
          </a:p>
          <a:p>
            <a:r>
              <a:t>PAUSE HERE. Let them look at the sign change.</a:t>
            </a:r>
          </a:p>
          <a:p>
            <a:r>
              <a:t>For scale: five more real photographs are worth 1.9 dB. Augmentation buys you about a seventh of one photograph, and only while photographs are scarce.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[40s]</a:t>
            </a:r>
          </a:p>
          <a:p>
            <a:r>
              <a:t>The same thing visually. Left pair is five views, right pair is twenty.</a:t>
            </a:r>
          </a:p>
          <a:p>
            <a:r>
              <a:t>One caution on this figure: per-view effects scatter several dB either side of the average. So I picked the views closest to the mean effect and printed the per-view number on each. Three arbitrary views can contradict the finding they are supposed to illustrate.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[45s]</a:t>
            </a:r>
          </a:p>
          <a:p>
            <a:r>
              <a:t>The obvious worry is that this is one scene's quirk. So I repeated the sweep on an indoor room from a different dataset — different capture geometry, different scale.</a:t>
            </a:r>
          </a:p>
          <a:p>
            <a:r>
              <a:t>Same sign flip. And indoors the effect is stronger at five views.</a:t>
            </a:r>
          </a:p>
          <a:p>
            <a:r>
              <a:t>Note the third number: the baselines scatter 0.52 dB between seeds indoors, against 0.07 outdoors. Which five views you draw matters far more in a room. Without the paired design I could not have resolved the effect at all.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[65s]</a:t>
            </a:r>
          </a:p>
          <a:p>
            <a:r>
              <a:t>Here is why the sign flips.</a:t>
            </a:r>
          </a:p>
          <a:p>
            <a:r>
              <a:t>Every synthetic view gives you two things at once. Coverage — some part of the scene no real camera saw. And inconsistency — it is invented, so it disagrees with the real photographs.</a:t>
            </a:r>
          </a:p>
          <a:p>
            <a:r>
              <a:t>Coverage DECAYS as you add real views. You have already seen that area.</a:t>
            </a:r>
          </a:p>
          <a:p>
            <a:r>
              <a:t>Inconsistency does NOT decay. A contradiction is just as harmful at twenty views as at five. Arguably worse, because now it contradicts a better-determined geometry.</a:t>
            </a:r>
          </a:p>
          <a:p>
            <a:r>
              <a:t>A shrinking benefit plus a constant cost gives you a sign change. That is the whole mechanism.</a:t>
            </a:r>
          </a:p>
          <a:p>
            <a:r>
              <a:t>But that is just a story. So I made it predict things that could fail.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[55s]</a:t>
            </a:r>
          </a:p>
          <a:p>
            <a:r>
              <a:t>First objection: maybe this is a quirk of Stable Diffusion 1.5.</a:t>
            </a:r>
          </a:p>
          <a:p>
            <a:r>
              <a:t>So I swapped in Dreamshaper-8 — same architecture, same memory budget, but tuned for better photorealism.</a:t>
            </a:r>
          </a:p>
          <a:p>
            <a:r>
              <a:t>It reverses in the same place. Positive at five, negative at twenty.</a:t>
            </a:r>
          </a:p>
          <a:p>
            <a:r>
              <a:t>And here is the interesting part: the better-looking model is WORSE at every subset size. It even crosses over earlier.</a:t>
            </a:r>
          </a:p>
          <a:p>
            <a:r>
              <a:t>A model tuned to make each image individually more convincing has no reason to be more consistent BETWEEN images. Which is the point — what a synthetic view contributes is coverage, not photorealism.</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[92s]</a:t>
            </a:r>
          </a:p>
          <a:p>
            <a:r>
              <a:t>Second and sharper prediction.</a:t>
            </a:r>
          </a:p>
          <a:p>
            <a:r>
              <a:t>If the harm comes from inventing a camera, then something that helps the geometry WITHOUT inventing a camera should never turn negative.</a:t>
            </a:r>
          </a:p>
          <a:p>
            <a:r>
              <a:t>Depth regularisation is exactly that. A depth network predicts a depth map for each real photograph, anchored to true scale against the sparse reconstruction points. No camera is invented, no pixel is fabricated.</a:t>
            </a:r>
          </a:p>
          <a:p>
            <a:r>
              <a:t>It is positive at every subset size — including twenty, where outpainting loses 0.6.</a:t>
            </a:r>
          </a:p>
          <a:p>
            <a:r>
              <a:t>Coverage crosses over. Constraint does not. The two differ in exactly one respect, and it is the one the theory says matters.</a:t>
            </a:r>
          </a:p>
          <a:p>
            <a:r>
              <a:t>And they compound: together at five views they reach 0.714 dB, the best result in the study — because they repair different deficiencies.</a:t>
            </a:r>
          </a:p>
          <a:p>
            <a:r>
              <a:t>One more thing, and it is the strongest evidence I have. Train to thirty thousand iterations and the outpainting gain dies — minus 0.078, nothing. The depth prior at the same length is still plus 0.208, and the two together plus 0.469. Fabricated pixels lose their value to longer training. A geometric constraint does not.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[50s]</a:t>
            </a:r>
          </a:p>
          <a:p>
            <a:r>
              <a:t>So, four things.</a:t>
            </a:r>
          </a:p>
          <a:p>
            <a:r>
              <a:t>Augmentation is not free coverage. It helps only in the single digits.</a:t>
            </a:r>
          </a:p>
          <a:p>
            <a:r>
              <a:t>The mechanism is pose novelty — four controls rule out image quality, hole content, warping artifacts, and mere repetition.</a:t>
            </a:r>
          </a:p>
          <a:p>
            <a:r>
              <a:t>Constraint beats invention.</a:t>
            </a:r>
          </a:p>
          <a:p>
            <a:r>
              <a:t>And the two are separable, which is why combining them beats either alone.</a:t>
            </a:r>
          </a:p>
          <a:p>
            <a:r>
              <a:t>Practically: below about ten real views, use it. Above that, go and take more photographs.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[88s]</a:t>
            </a:r>
          </a:p>
          <a:p>
            <a:r>
              <a:t>The honest limits.</a:t>
            </a:r>
          </a:p>
          <a:p>
            <a:r>
              <a:t>The biggest one is training length. I train for 7,000 iterations. I measured three points — the gain decays from plus 0.285, to plus 0.045 at fifteen thousand, to minus 0.078 at thirty thousand.</a:t>
            </a:r>
          </a:p>
          <a:p>
            <a:r>
              <a:t>But — and this is the point — the plain baselines do not improve either. Flat from seven to fifteen thousand, and lower by thirty. With five photos, long training memorises them instead of learning the scene. So 30,000 is not better converged, it is over-trained, and 7,000 is a fair operating point. The augmentation gain is still conditional on early stopping — the depth prior is not.</a:t>
            </a:r>
          </a:p>
          <a:p>
            <a:r>
              <a:t>Two things run against my own claim. At twenty views the prior is only plus 0.130 after long training, inside the noise. And the compounding is single-scene: on the indoor scene the two are additive, not super-additive.</a:t>
            </a:r>
          </a:p>
          <a:p>
            <a:r>
              <a:t>Three seeds is a consistency check, not a significance test. Both diffusion checkpoints share an architecture, because SDXL and FLUX do not fit in four gigabytes.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[35s]</a:t>
            </a:r>
          </a:p>
          <a:p>
            <a:r>
              <a:t>To close.</a:t>
            </a:r>
          </a:p>
          <a:p>
            <a:r>
              <a:t>Augmentation buys coverage and pays for it in consistency. Whether that trade is worth taking depends entirely on how scarce your real photographs are.</a:t>
            </a:r>
          </a:p>
          <a:p>
            <a:r>
              <a:t>At five views, worth it. By twenty, the same treatment is actively harmful.</a:t>
            </a:r>
          </a:p>
          <a:p>
            <a:r>
              <a:t>Thank you — happy to take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502920"/>
            <a:ext cx="10874959" cy="292608"/>
          </a:xfrm>
          <a:prstGeom prst="rect">
            <a:avLst/>
          </a:prstGeom>
          <a:noFill/>
        </p:spPr>
        <p:txBody>
          <a:bodyPr wrap="square">
            <a:spAutoFit/>
          </a:bodyPr>
          <a:lstStyle/>
          <a:p>
            <a:r>
              <a:rPr sz="1100" b="1">
                <a:solidFill>
                  <a:srgbClr val="0B6E7F"/>
                </a:solidFill>
              </a:rPr>
              <a:t>UNIVERSITÀ DEGLI STUDI DI GENOVA · ROBOTICS</a:t>
            </a:r>
          </a:p>
        </p:txBody>
      </p:sp>
      <p:sp>
        <p:nvSpPr>
          <p:cNvPr id="3" name="TextBox 2"/>
          <p:cNvSpPr txBox="1"/>
          <p:nvPr/>
        </p:nvSpPr>
        <p:spPr>
          <a:xfrm>
            <a:off x="658368" y="886968"/>
            <a:ext cx="10874959" cy="1371600"/>
          </a:xfrm>
          <a:prstGeom prst="rect">
            <a:avLst/>
          </a:prstGeom>
          <a:noFill/>
        </p:spPr>
        <p:txBody>
          <a:bodyPr wrap="square">
            <a:spAutoFit/>
          </a:bodyPr>
          <a:lstStyle/>
          <a:p>
            <a:r>
              <a:rPr sz="3400" b="1">
                <a:solidFill>
                  <a:srgbClr val="16202A"/>
                </a:solidFill>
              </a:rPr>
              <a:t>When does a generated photographhelp a 3D reconstruction?</a:t>
            </a:r>
          </a:p>
        </p:txBody>
      </p:sp>
      <p:sp>
        <p:nvSpPr>
          <p:cNvPr id="4" name="TextBox 3"/>
          <p:cNvSpPr txBox="1"/>
          <p:nvPr/>
        </p:nvSpPr>
        <p:spPr>
          <a:xfrm>
            <a:off x="658368" y="2029968"/>
            <a:ext cx="2547289" cy="1828800"/>
          </a:xfrm>
          <a:prstGeom prst="rect">
            <a:avLst/>
          </a:prstGeom>
          <a:noFill/>
        </p:spPr>
        <p:txBody>
          <a:bodyPr wrap="square">
            <a:spAutoFit/>
          </a:bodyPr>
          <a:lstStyle/>
          <a:p>
            <a:r>
              <a:rPr sz="3000" b="1">
                <a:solidFill>
                  <a:srgbClr val="16202A"/>
                </a:solidFill>
              </a:rPr>
              <a:t>242</a:t>
            </a:r>
          </a:p>
          <a:p>
            <a:r>
              <a:rPr sz="1200">
                <a:solidFill>
                  <a:srgbClr val="5C6E78"/>
                </a:solidFill>
              </a:rPr>
              <a:t>training runs</a:t>
            </a:r>
          </a:p>
        </p:txBody>
      </p:sp>
      <p:sp>
        <p:nvSpPr>
          <p:cNvPr id="5" name="TextBox 4"/>
          <p:cNvSpPr txBox="1"/>
          <p:nvPr/>
        </p:nvSpPr>
        <p:spPr>
          <a:xfrm>
            <a:off x="3434257" y="2029968"/>
            <a:ext cx="2547289" cy="1828800"/>
          </a:xfrm>
          <a:prstGeom prst="rect">
            <a:avLst/>
          </a:prstGeom>
          <a:noFill/>
        </p:spPr>
        <p:txBody>
          <a:bodyPr wrap="square">
            <a:spAutoFit/>
          </a:bodyPr>
          <a:lstStyle/>
          <a:p>
            <a:r>
              <a:rPr sz="3000" b="1">
                <a:solidFill>
                  <a:srgbClr val="16202A"/>
                </a:solidFill>
              </a:rPr>
              <a:t>2</a:t>
            </a:r>
          </a:p>
          <a:p>
            <a:r>
              <a:rPr sz="1200">
                <a:solidFill>
                  <a:srgbClr val="5C6E78"/>
                </a:solidFill>
              </a:rPr>
              <a:t>scenes: an outdoor object and an indoor room</a:t>
            </a:r>
          </a:p>
        </p:txBody>
      </p:sp>
      <p:sp>
        <p:nvSpPr>
          <p:cNvPr id="6" name="TextBox 5"/>
          <p:cNvSpPr txBox="1"/>
          <p:nvPr/>
        </p:nvSpPr>
        <p:spPr>
          <a:xfrm>
            <a:off x="6210146" y="2029968"/>
            <a:ext cx="2547289" cy="1828800"/>
          </a:xfrm>
          <a:prstGeom prst="rect">
            <a:avLst/>
          </a:prstGeom>
          <a:noFill/>
        </p:spPr>
        <p:txBody>
          <a:bodyPr wrap="square">
            <a:spAutoFit/>
          </a:bodyPr>
          <a:lstStyle/>
          <a:p>
            <a:r>
              <a:rPr sz="3000" b="1">
                <a:solidFill>
                  <a:srgbClr val="16202A"/>
                </a:solidFill>
              </a:rPr>
              <a:t>3</a:t>
            </a:r>
          </a:p>
          <a:p>
            <a:r>
              <a:rPr sz="1200">
                <a:solidFill>
                  <a:srgbClr val="5C6E78"/>
                </a:solidFill>
              </a:rPr>
              <a:t>augmentation strategies, 4 ratios, 3 seeds</a:t>
            </a:r>
          </a:p>
        </p:txBody>
      </p:sp>
      <p:sp>
        <p:nvSpPr>
          <p:cNvPr id="7" name="TextBox 6"/>
          <p:cNvSpPr txBox="1"/>
          <p:nvPr/>
        </p:nvSpPr>
        <p:spPr>
          <a:xfrm>
            <a:off x="8986035" y="2029968"/>
            <a:ext cx="2547289" cy="1828800"/>
          </a:xfrm>
          <a:prstGeom prst="rect">
            <a:avLst/>
          </a:prstGeom>
          <a:noFill/>
        </p:spPr>
        <p:txBody>
          <a:bodyPr wrap="square">
            <a:spAutoFit/>
          </a:bodyPr>
          <a:lstStyle/>
          <a:p>
            <a:r>
              <a:rPr sz="3000" b="1">
                <a:solidFill>
                  <a:srgbClr val="16202A"/>
                </a:solidFill>
              </a:rPr>
              <a:t>4</a:t>
            </a:r>
          </a:p>
          <a:p>
            <a:r>
              <a:rPr sz="1200">
                <a:solidFill>
                  <a:srgbClr val="5C6E78"/>
                </a:solidFill>
              </a:rPr>
              <a:t>controls, plus a depth prior that tests the mechanism</a:t>
            </a:r>
          </a:p>
        </p:txBody>
      </p:sp>
      <p:sp>
        <p:nvSpPr>
          <p:cNvPr id="8" name="TextBox 7"/>
          <p:cNvSpPr txBox="1"/>
          <p:nvPr/>
        </p:nvSpPr>
        <p:spPr>
          <a:xfrm>
            <a:off x="658368" y="3995928"/>
            <a:ext cx="10874959" cy="2404872"/>
          </a:xfrm>
          <a:prstGeom prst="rect">
            <a:avLst/>
          </a:prstGeom>
          <a:noFill/>
        </p:spPr>
        <p:txBody>
          <a:bodyPr wrap="square">
            <a:spAutoFit/>
          </a:bodyPr>
          <a:lstStyle/>
          <a:p>
            <a:pPr>
              <a:spcAft>
                <a:spcPts val="1000"/>
              </a:spcAft>
            </a:pPr>
            <a:r>
              <a:rPr sz="1600">
                <a:solidFill>
                  <a:srgbClr val="5C6E78"/>
                </a:solidFill>
              </a:rPr>
              <a:t>Few-shot Gaussian Splatting with diffusion-based data augmentation — and the boundary where augmentation stops helping and starts destroying.</a:t>
            </a:r>
          </a:p>
          <a:p>
            <a:pPr>
              <a:spcAft>
                <a:spcPts val="1000"/>
              </a:spcAft>
            </a:pPr>
            <a:r>
              <a:rPr sz="1400">
                <a:solidFill>
                  <a:srgbClr val="5C6E78"/>
                </a:solidFill>
              </a:rPr>
              <a:t>Mohamed Eyad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502920"/>
            <a:ext cx="10874959" cy="292608"/>
          </a:xfrm>
          <a:prstGeom prst="rect">
            <a:avLst/>
          </a:prstGeom>
          <a:noFill/>
        </p:spPr>
        <p:txBody>
          <a:bodyPr wrap="square">
            <a:spAutoFit/>
          </a:bodyPr>
          <a:lstStyle/>
          <a:p>
            <a:r>
              <a:rPr sz="1100" b="1">
                <a:solidFill>
                  <a:srgbClr val="0B6E7F"/>
                </a:solidFill>
              </a:rPr>
              <a:t>THE PROBLEM</a:t>
            </a:r>
          </a:p>
        </p:txBody>
      </p:sp>
      <p:sp>
        <p:nvSpPr>
          <p:cNvPr id="3" name="TextBox 2"/>
          <p:cNvSpPr txBox="1"/>
          <p:nvPr/>
        </p:nvSpPr>
        <p:spPr>
          <a:xfrm>
            <a:off x="658368" y="886968"/>
            <a:ext cx="10874959" cy="914400"/>
          </a:xfrm>
          <a:prstGeom prst="rect">
            <a:avLst/>
          </a:prstGeom>
          <a:noFill/>
        </p:spPr>
        <p:txBody>
          <a:bodyPr wrap="square">
            <a:spAutoFit/>
          </a:bodyPr>
          <a:lstStyle/>
          <a:p>
            <a:r>
              <a:rPr sz="2600" b="1">
                <a:solidFill>
                  <a:srgbClr val="16202A"/>
                </a:solidFill>
              </a:rPr>
              <a:t>3D Gaussian Splatting is excellent — given enough photographs</a:t>
            </a:r>
          </a:p>
        </p:txBody>
      </p:sp>
      <p:sp>
        <p:nvSpPr>
          <p:cNvPr id="4" name="TextBox 3"/>
          <p:cNvSpPr txBox="1"/>
          <p:nvPr/>
        </p:nvSpPr>
        <p:spPr>
          <a:xfrm>
            <a:off x="658368" y="1755648"/>
            <a:ext cx="2547289" cy="1828800"/>
          </a:xfrm>
          <a:prstGeom prst="rect">
            <a:avLst/>
          </a:prstGeom>
          <a:noFill/>
        </p:spPr>
        <p:txBody>
          <a:bodyPr wrap="square">
            <a:spAutoFit/>
          </a:bodyPr>
          <a:lstStyle/>
          <a:p>
            <a:r>
              <a:rPr sz="3000" b="1">
                <a:solidFill>
                  <a:srgbClr val="16202A"/>
                </a:solidFill>
              </a:rPr>
              <a:t>15.20</a:t>
            </a:r>
          </a:p>
          <a:p>
            <a:r>
              <a:rPr sz="1200">
                <a:solidFill>
                  <a:srgbClr val="5C6E78"/>
                </a:solidFill>
              </a:rPr>
              <a:t>dB · 5 views</a:t>
            </a:r>
          </a:p>
        </p:txBody>
      </p:sp>
      <p:sp>
        <p:nvSpPr>
          <p:cNvPr id="5" name="TextBox 4"/>
          <p:cNvSpPr txBox="1"/>
          <p:nvPr/>
        </p:nvSpPr>
        <p:spPr>
          <a:xfrm>
            <a:off x="3434257" y="1755648"/>
            <a:ext cx="2547289" cy="1828800"/>
          </a:xfrm>
          <a:prstGeom prst="rect">
            <a:avLst/>
          </a:prstGeom>
          <a:noFill/>
        </p:spPr>
        <p:txBody>
          <a:bodyPr wrap="square">
            <a:spAutoFit/>
          </a:bodyPr>
          <a:lstStyle/>
          <a:p>
            <a:r>
              <a:rPr sz="3000" b="1">
                <a:solidFill>
                  <a:srgbClr val="16202A"/>
                </a:solidFill>
              </a:rPr>
              <a:t>17.11</a:t>
            </a:r>
          </a:p>
          <a:p>
            <a:r>
              <a:rPr sz="1200">
                <a:solidFill>
                  <a:srgbClr val="5C6E78"/>
                </a:solidFill>
              </a:rPr>
              <a:t>dB · 10 views</a:t>
            </a:r>
          </a:p>
        </p:txBody>
      </p:sp>
      <p:sp>
        <p:nvSpPr>
          <p:cNvPr id="6" name="TextBox 5"/>
          <p:cNvSpPr txBox="1"/>
          <p:nvPr/>
        </p:nvSpPr>
        <p:spPr>
          <a:xfrm>
            <a:off x="6210146" y="1755648"/>
            <a:ext cx="2547289" cy="1828800"/>
          </a:xfrm>
          <a:prstGeom prst="rect">
            <a:avLst/>
          </a:prstGeom>
          <a:noFill/>
        </p:spPr>
        <p:txBody>
          <a:bodyPr wrap="square">
            <a:spAutoFit/>
          </a:bodyPr>
          <a:lstStyle/>
          <a:p>
            <a:r>
              <a:rPr sz="3000" b="1">
                <a:solidFill>
                  <a:srgbClr val="16202A"/>
                </a:solidFill>
              </a:rPr>
              <a:t>19.74</a:t>
            </a:r>
          </a:p>
          <a:p>
            <a:r>
              <a:rPr sz="1200">
                <a:solidFill>
                  <a:srgbClr val="5C6E78"/>
                </a:solidFill>
              </a:rPr>
              <a:t>dB · 20 views</a:t>
            </a:r>
          </a:p>
        </p:txBody>
      </p:sp>
      <p:sp>
        <p:nvSpPr>
          <p:cNvPr id="7" name="TextBox 6"/>
          <p:cNvSpPr txBox="1"/>
          <p:nvPr/>
        </p:nvSpPr>
        <p:spPr>
          <a:xfrm>
            <a:off x="8986035" y="1755648"/>
            <a:ext cx="2547289" cy="1828800"/>
          </a:xfrm>
          <a:prstGeom prst="rect">
            <a:avLst/>
          </a:prstGeom>
          <a:noFill/>
        </p:spPr>
        <p:txBody>
          <a:bodyPr wrap="square">
            <a:spAutoFit/>
          </a:bodyPr>
          <a:lstStyle/>
          <a:p>
            <a:r>
              <a:rPr sz="3000" b="1">
                <a:solidFill>
                  <a:srgbClr val="16202A"/>
                </a:solidFill>
              </a:rPr>
              <a:t>25.23</a:t>
            </a:r>
          </a:p>
          <a:p>
            <a:r>
              <a:rPr sz="1200">
                <a:solidFill>
                  <a:srgbClr val="5C6E78"/>
                </a:solidFill>
              </a:rPr>
              <a:t>dB · 219 views (ceiling)</a:t>
            </a:r>
          </a:p>
        </p:txBody>
      </p:sp>
      <p:sp>
        <p:nvSpPr>
          <p:cNvPr id="8" name="TextBox 7"/>
          <p:cNvSpPr txBox="1"/>
          <p:nvPr/>
        </p:nvSpPr>
        <p:spPr>
          <a:xfrm>
            <a:off x="658368" y="3721608"/>
            <a:ext cx="10874959" cy="2679192"/>
          </a:xfrm>
          <a:prstGeom prst="rect">
            <a:avLst/>
          </a:prstGeom>
          <a:noFill/>
        </p:spPr>
        <p:txBody>
          <a:bodyPr wrap="square">
            <a:spAutoFit/>
          </a:bodyPr>
          <a:lstStyle/>
          <a:p>
            <a:pPr>
              <a:spcAft>
                <a:spcPts val="1000"/>
              </a:spcAft>
            </a:pPr>
            <a:r>
              <a:rPr sz="1600">
                <a:solidFill>
                  <a:srgbClr val="16202A"/>
                </a:solidFill>
              </a:rPr>
              <a:t>On truck (Tanks &amp; Temples), the full 219-view reconstruction reaches 25.23 dB. Cut to five photographs and it falls to 15.20 dB.</a:t>
            </a:r>
          </a:p>
          <a:p>
            <a:pPr>
              <a:spcAft>
                <a:spcPts val="1000"/>
              </a:spcAft>
            </a:pPr>
            <a:r>
              <a:rPr sz="1400">
                <a:solidFill>
                  <a:srgbClr val="16202A"/>
                </a:solidFill>
              </a:rPr>
              <a:t>A 10.04 dB gap. Photographs are expensive; a diffusion model generates images for free. Can generated views substitute for photographs that were never taken?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502920"/>
            <a:ext cx="10874959" cy="292608"/>
          </a:xfrm>
          <a:prstGeom prst="rect">
            <a:avLst/>
          </a:prstGeom>
          <a:noFill/>
        </p:spPr>
        <p:txBody>
          <a:bodyPr wrap="square">
            <a:spAutoFit/>
          </a:bodyPr>
          <a:lstStyle/>
          <a:p>
            <a:r>
              <a:rPr sz="1100" b="1">
                <a:solidFill>
                  <a:srgbClr val="0B6E7F"/>
                </a:solidFill>
              </a:rPr>
              <a:t>THE PROBLEM · WHAT IT LOOKS LIKE</a:t>
            </a:r>
          </a:p>
        </p:txBody>
      </p:sp>
      <p:pic>
        <p:nvPicPr>
          <p:cNvPr id="3" name="Picture 2" descr="image.jpg"/>
          <p:cNvPicPr>
            <a:picLocks noChangeAspect="1"/>
          </p:cNvPicPr>
          <p:nvPr/>
        </p:nvPicPr>
        <p:blipFill>
          <a:blip r:embed="rId2"/>
          <a:stretch>
            <a:fillRect/>
          </a:stretch>
        </p:blipFill>
        <p:spPr>
          <a:xfrm>
            <a:off x="658368" y="886968"/>
            <a:ext cx="10874959" cy="416447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502920"/>
            <a:ext cx="10874959" cy="292608"/>
          </a:xfrm>
          <a:prstGeom prst="rect">
            <a:avLst/>
          </a:prstGeom>
          <a:noFill/>
        </p:spPr>
        <p:txBody>
          <a:bodyPr wrap="square">
            <a:spAutoFit/>
          </a:bodyPr>
          <a:lstStyle/>
          <a:p>
            <a:r>
              <a:rPr sz="1100" b="1">
                <a:solidFill>
                  <a:srgbClr val="0B6E7F"/>
                </a:solidFill>
              </a:rPr>
              <a:t>METHOD</a:t>
            </a:r>
          </a:p>
        </p:txBody>
      </p:sp>
      <p:sp>
        <p:nvSpPr>
          <p:cNvPr id="3" name="TextBox 2"/>
          <p:cNvSpPr txBox="1"/>
          <p:nvPr/>
        </p:nvSpPr>
        <p:spPr>
          <a:xfrm>
            <a:off x="658368" y="886968"/>
            <a:ext cx="10874959" cy="914400"/>
          </a:xfrm>
          <a:prstGeom prst="rect">
            <a:avLst/>
          </a:prstGeom>
          <a:noFill/>
        </p:spPr>
        <p:txBody>
          <a:bodyPr wrap="square">
            <a:spAutoFit/>
          </a:bodyPr>
          <a:lstStyle/>
          <a:p>
            <a:r>
              <a:rPr sz="2600" b="1">
                <a:solidFill>
                  <a:srgbClr val="16202A"/>
                </a:solidFill>
              </a:rPr>
              <a:t>Three ways to manufacture a training view</a:t>
            </a:r>
          </a:p>
        </p:txBody>
      </p:sp>
      <p:sp>
        <p:nvSpPr>
          <p:cNvPr id="4" name="TextBox 3"/>
          <p:cNvSpPr txBox="1"/>
          <p:nvPr/>
        </p:nvSpPr>
        <p:spPr>
          <a:xfrm>
            <a:off x="658368" y="1755648"/>
            <a:ext cx="3472586" cy="1828800"/>
          </a:xfrm>
          <a:prstGeom prst="rect">
            <a:avLst/>
          </a:prstGeom>
          <a:noFill/>
        </p:spPr>
        <p:txBody>
          <a:bodyPr wrap="square">
            <a:spAutoFit/>
          </a:bodyPr>
          <a:lstStyle/>
          <a:p/>
          <a:p>
            <a:r>
              <a:rPr sz="1500" b="1">
                <a:solidFill>
                  <a:srgbClr val="16202A"/>
                </a:solidFill>
              </a:rPr>
              <a:t>Inpainting</a:t>
            </a:r>
          </a:p>
          <a:p>
            <a:r>
              <a:rPr sz="1200">
                <a:solidFill>
                  <a:srgbClr val="5C6E78"/>
                </a:solidFill>
              </a:rPr>
              <a:t>Mask a region of a real photograph and let the model refill it. Same camera, same framing — no new geometry at all.</a:t>
            </a:r>
          </a:p>
        </p:txBody>
      </p:sp>
      <p:sp>
        <p:nvSpPr>
          <p:cNvPr id="5" name="TextBox 4"/>
          <p:cNvSpPr txBox="1"/>
          <p:nvPr/>
        </p:nvSpPr>
        <p:spPr>
          <a:xfrm>
            <a:off x="4359554" y="1755648"/>
            <a:ext cx="3472586" cy="1828800"/>
          </a:xfrm>
          <a:prstGeom prst="rect">
            <a:avLst/>
          </a:prstGeom>
          <a:noFill/>
        </p:spPr>
        <p:txBody>
          <a:bodyPr wrap="square">
            <a:spAutoFit/>
          </a:bodyPr>
          <a:lstStyle/>
          <a:p/>
          <a:p>
            <a:r>
              <a:rPr sz="1500" b="1">
                <a:solidFill>
                  <a:srgbClr val="16202A"/>
                </a:solidFill>
              </a:rPr>
              <a:t>Outpainting</a:t>
            </a:r>
          </a:p>
          <a:p>
            <a:r>
              <a:rPr sz="1200">
                <a:solidFill>
                  <a:srgbClr val="5C6E78"/>
                </a:solidFill>
              </a:rPr>
              <a:t>Keep the focal length, enlarge the canvas. The camera does not move; the lens gets wider. Supplies peripheral content.</a:t>
            </a:r>
          </a:p>
        </p:txBody>
      </p:sp>
      <p:sp>
        <p:nvSpPr>
          <p:cNvPr id="6" name="TextBox 5"/>
          <p:cNvSpPr txBox="1"/>
          <p:nvPr/>
        </p:nvSpPr>
        <p:spPr>
          <a:xfrm>
            <a:off x="8060740" y="1755648"/>
            <a:ext cx="3472586" cy="1828800"/>
          </a:xfrm>
          <a:prstGeom prst="rect">
            <a:avLst/>
          </a:prstGeom>
          <a:noFill/>
        </p:spPr>
        <p:txBody>
          <a:bodyPr wrap="square">
            <a:spAutoFit/>
          </a:bodyPr>
          <a:lstStyle/>
          <a:p/>
          <a:p>
            <a:r>
              <a:rPr sz="1500" b="1">
                <a:solidFill>
                  <a:srgbClr val="16202A"/>
                </a:solidFill>
              </a:rPr>
              <a:t>Pose-guided</a:t>
            </a:r>
          </a:p>
          <a:p>
            <a:r>
              <a:rPr sz="1200">
                <a:solidFill>
                  <a:srgbClr val="5C6E78"/>
                </a:solidFill>
              </a:rPr>
              <a:t>Estimate depth, anchor it to the sparse SfM points, warp to a chosen new camera, and let diffusion fill the disocclusions. The only one supplying a genuinely new viewpoint.</a:t>
            </a:r>
          </a:p>
        </p:txBody>
      </p:sp>
      <p:sp>
        <p:nvSpPr>
          <p:cNvPr id="7" name="TextBox 6"/>
          <p:cNvSpPr txBox="1"/>
          <p:nvPr/>
        </p:nvSpPr>
        <p:spPr>
          <a:xfrm>
            <a:off x="658368" y="3721608"/>
            <a:ext cx="10874959" cy="2679192"/>
          </a:xfrm>
          <a:prstGeom prst="rect">
            <a:avLst/>
          </a:prstGeom>
          <a:noFill/>
        </p:spPr>
        <p:txBody>
          <a:bodyPr wrap="square">
            <a:spAutoFit/>
          </a:bodyPr>
          <a:lstStyle/>
          <a:p>
            <a:pPr>
              <a:spcAft>
                <a:spcPts val="1000"/>
              </a:spcAft>
            </a:pPr>
            <a:r>
              <a:rPr sz="1400">
                <a:solidFill>
                  <a:srgbClr val="16202A"/>
                </a:solidFill>
              </a:rPr>
              <a:t>Mask a region of a real photograph and let the model refill it. Same camera, same framing — no new geometry at all.</a:t>
            </a:r>
          </a:p>
          <a:p>
            <a:pPr>
              <a:spcAft>
                <a:spcPts val="1000"/>
              </a:spcAft>
            </a:pPr>
            <a:r>
              <a:rPr sz="1400">
                <a:solidFill>
                  <a:srgbClr val="16202A"/>
                </a:solidFill>
              </a:rPr>
              <a:t>Keep the focal length, enlarge the canvas. The camera does not move; the lens gets wider. Supplies peripheral content.</a:t>
            </a:r>
          </a:p>
          <a:p>
            <a:pPr>
              <a:spcAft>
                <a:spcPts val="1000"/>
              </a:spcAft>
            </a:pPr>
            <a:r>
              <a:rPr sz="1400">
                <a:solidFill>
                  <a:srgbClr val="16202A"/>
                </a:solidFill>
              </a:rPr>
              <a:t>Estimate depth, anchor it to the sparse SfM points, warp to a chosen new camera, and let diffusion fill the disocclusions. The only one supplying a genuinely new viewpoint.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502920"/>
            <a:ext cx="10874959" cy="292608"/>
          </a:xfrm>
          <a:prstGeom prst="rect">
            <a:avLst/>
          </a:prstGeom>
          <a:noFill/>
        </p:spPr>
        <p:txBody>
          <a:bodyPr wrap="square">
            <a:spAutoFit/>
          </a:bodyPr>
          <a:lstStyle/>
          <a:p>
            <a:r>
              <a:rPr sz="1100" b="1">
                <a:solidFill>
                  <a:srgbClr val="0B6E7F"/>
                </a:solidFill>
              </a:rPr>
              <a:t>DESIGN</a:t>
            </a:r>
          </a:p>
        </p:txBody>
      </p:sp>
      <p:sp>
        <p:nvSpPr>
          <p:cNvPr id="3" name="TextBox 2"/>
          <p:cNvSpPr txBox="1"/>
          <p:nvPr/>
        </p:nvSpPr>
        <p:spPr>
          <a:xfrm>
            <a:off x="658368" y="886968"/>
            <a:ext cx="10874959" cy="914400"/>
          </a:xfrm>
          <a:prstGeom prst="rect">
            <a:avLst/>
          </a:prstGeom>
          <a:noFill/>
        </p:spPr>
        <p:txBody>
          <a:bodyPr wrap="square">
            <a:spAutoFit/>
          </a:bodyPr>
          <a:lstStyle/>
          <a:p>
            <a:r>
              <a:rPr sz="2600" b="1">
                <a:solidFill>
                  <a:srgbClr val="16202A"/>
                </a:solidFill>
              </a:rPr>
              <a:t>The measurement has to survive a 0.2 dB effect</a:t>
            </a:r>
          </a:p>
        </p:txBody>
      </p:sp>
      <p:sp>
        <p:nvSpPr>
          <p:cNvPr id="4" name="TextBox 3"/>
          <p:cNvSpPr txBox="1"/>
          <p:nvPr/>
        </p:nvSpPr>
        <p:spPr>
          <a:xfrm>
            <a:off x="658368" y="1755648"/>
            <a:ext cx="10874959" cy="4645152"/>
          </a:xfrm>
          <a:prstGeom prst="rect">
            <a:avLst/>
          </a:prstGeom>
          <a:noFill/>
        </p:spPr>
        <p:txBody>
          <a:bodyPr wrap="square">
            <a:spAutoFit/>
          </a:bodyPr>
          <a:lstStyle/>
          <a:p>
            <a:pPr>
              <a:spcAft>
                <a:spcPts val="900"/>
              </a:spcAft>
            </a:pPr>
            <a:r>
              <a:rPr sz="1500">
                <a:solidFill>
                  <a:srgbClr val="16202A"/>
                </a:solidFill>
              </a:rPr>
              <a:t>•  Frozen held-out split. Every run of a scene is scored against byte-identical test images — verified by hash across all 242 runs.</a:t>
            </a:r>
          </a:p>
          <a:p>
            <a:pPr>
              <a:spcAft>
                <a:spcPts val="900"/>
              </a:spcAft>
            </a:pPr>
            <a:r>
              <a:rPr sz="1500">
                <a:solidFill>
                  <a:srgbClr val="16202A"/>
                </a:solidFill>
              </a:rPr>
              <a:t>•  Paired within seed. Each augmented run is compared to its own seed's baseline, so the luck of which five views were drawn cancels instead of adding noise.</a:t>
            </a:r>
          </a:p>
          <a:p>
            <a:pPr>
              <a:spcAft>
                <a:spcPts val="900"/>
              </a:spcAft>
            </a:pPr>
            <a:r>
              <a:rPr sz="1500">
                <a:solidFill>
                  <a:srgbClr val="16202A"/>
                </a:solidFill>
              </a:rPr>
              <a:t>•  Measured noise floor. The identical configuration re-run three times varies by 0.039 dB, so an effect of 0.2 dB is resolvable and one of 0.03 dB is not.</a:t>
            </a:r>
          </a:p>
          <a:p>
            <a:pPr>
              <a:spcAft>
                <a:spcPts val="900"/>
              </a:spcAft>
            </a:pPr>
            <a:r>
              <a:rPr sz="1500">
                <a:solidFill>
                  <a:srgbClr val="16202A"/>
                </a:solidFill>
              </a:rPr>
              <a:t>•  Farthest-point sampling. Subsets are spread over the camera trajectory rather than drawn at random; the seed picks only the starting camera.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502920"/>
            <a:ext cx="10874959" cy="292608"/>
          </a:xfrm>
          <a:prstGeom prst="rect">
            <a:avLst/>
          </a:prstGeom>
          <a:noFill/>
        </p:spPr>
        <p:txBody>
          <a:bodyPr wrap="square">
            <a:spAutoFit/>
          </a:bodyPr>
          <a:lstStyle/>
          <a:p>
            <a:r>
              <a:rPr sz="1100" b="1">
                <a:solidFill>
                  <a:srgbClr val="0B6E7F"/>
                </a:solidFill>
              </a:rPr>
              <a:t>RESULT</a:t>
            </a:r>
          </a:p>
        </p:txBody>
      </p:sp>
      <p:sp>
        <p:nvSpPr>
          <p:cNvPr id="3" name="TextBox 2"/>
          <p:cNvSpPr txBox="1"/>
          <p:nvPr/>
        </p:nvSpPr>
        <p:spPr>
          <a:xfrm>
            <a:off x="658368" y="886968"/>
            <a:ext cx="10874959" cy="914400"/>
          </a:xfrm>
          <a:prstGeom prst="rect">
            <a:avLst/>
          </a:prstGeom>
          <a:noFill/>
        </p:spPr>
        <p:txBody>
          <a:bodyPr wrap="square">
            <a:spAutoFit/>
          </a:bodyPr>
          <a:lstStyle/>
          <a:p>
            <a:r>
              <a:rPr sz="2600" b="1">
                <a:solidFill>
                  <a:srgbClr val="16202A"/>
                </a:solidFill>
              </a:rPr>
              <a:t>The same augmentation helps at five views and harms at twenty</a:t>
            </a:r>
          </a:p>
        </p:txBody>
      </p:sp>
      <p:sp>
        <p:nvSpPr>
          <p:cNvPr id="4" name="TextBox 3"/>
          <p:cNvSpPr txBox="1"/>
          <p:nvPr/>
        </p:nvSpPr>
        <p:spPr>
          <a:xfrm>
            <a:off x="658368" y="1755648"/>
            <a:ext cx="1691640" cy="420624"/>
          </a:xfrm>
          <a:prstGeom prst="rect">
            <a:avLst/>
          </a:prstGeom>
          <a:noFill/>
        </p:spPr>
        <p:txBody>
          <a:bodyPr wrap="square">
            <a:spAutoFit/>
          </a:bodyPr>
          <a:lstStyle/>
          <a:p>
            <a:r>
              <a:rPr sz="1400">
                <a:solidFill>
                  <a:srgbClr val="5C6E78"/>
                </a:solidFill>
              </a:rPr>
              <a:t>k = 5</a:t>
            </a:r>
          </a:p>
        </p:txBody>
      </p:sp>
      <p:sp>
        <p:nvSpPr>
          <p:cNvPr id="5" name="Rectangle 4"/>
          <p:cNvSpPr/>
          <p:nvPr/>
        </p:nvSpPr>
        <p:spPr>
          <a:xfrm>
            <a:off x="2487168" y="1819656"/>
            <a:ext cx="7857439" cy="274320"/>
          </a:xfrm>
          <a:prstGeom prst="rect">
            <a:avLst/>
          </a:prstGeom>
          <a:solidFill>
            <a:srgbClr val="F2F5F6"/>
          </a:solidFill>
          <a:ln>
            <a:solidFill>
              <a:srgbClr val="D2DD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15887" y="1783080"/>
            <a:ext cx="9144" cy="347472"/>
          </a:xfrm>
          <a:prstGeom prst="rect">
            <a:avLst/>
          </a:prstGeom>
          <a:solidFill>
            <a:srgbClr val="5C6E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15887" y="1837944"/>
            <a:ext cx="1398624" cy="237744"/>
          </a:xfrm>
          <a:prstGeom prst="rect">
            <a:avLst/>
          </a:prstGeom>
          <a:solidFill>
            <a:srgbClr val="1C7C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481767" y="1755648"/>
            <a:ext cx="1051560" cy="420624"/>
          </a:xfrm>
          <a:prstGeom prst="rect">
            <a:avLst/>
          </a:prstGeom>
          <a:noFill/>
        </p:spPr>
        <p:txBody>
          <a:bodyPr wrap="square">
            <a:spAutoFit/>
          </a:bodyPr>
          <a:lstStyle/>
          <a:p>
            <a:pPr algn="ctr"/>
            <a:r>
              <a:rPr sz="1400" b="1">
                <a:solidFill>
                  <a:srgbClr val="1C7C54"/>
                </a:solidFill>
              </a:rPr>
              <a:t>+0.285</a:t>
            </a:r>
          </a:p>
        </p:txBody>
      </p:sp>
      <p:sp>
        <p:nvSpPr>
          <p:cNvPr id="9" name="TextBox 8"/>
          <p:cNvSpPr txBox="1"/>
          <p:nvPr/>
        </p:nvSpPr>
        <p:spPr>
          <a:xfrm>
            <a:off x="658368" y="2176272"/>
            <a:ext cx="1691640" cy="420624"/>
          </a:xfrm>
          <a:prstGeom prst="rect">
            <a:avLst/>
          </a:prstGeom>
          <a:noFill/>
        </p:spPr>
        <p:txBody>
          <a:bodyPr wrap="square">
            <a:spAutoFit/>
          </a:bodyPr>
          <a:lstStyle/>
          <a:p>
            <a:r>
              <a:rPr sz="1400">
                <a:solidFill>
                  <a:srgbClr val="5C6E78"/>
                </a:solidFill>
              </a:rPr>
              <a:t>k = 10</a:t>
            </a:r>
          </a:p>
        </p:txBody>
      </p:sp>
      <p:sp>
        <p:nvSpPr>
          <p:cNvPr id="10" name="Rectangle 9"/>
          <p:cNvSpPr/>
          <p:nvPr/>
        </p:nvSpPr>
        <p:spPr>
          <a:xfrm>
            <a:off x="2487168" y="2240280"/>
            <a:ext cx="7857439" cy="274320"/>
          </a:xfrm>
          <a:prstGeom prst="rect">
            <a:avLst/>
          </a:prstGeom>
          <a:solidFill>
            <a:srgbClr val="F2F5F6"/>
          </a:solidFill>
          <a:ln>
            <a:solidFill>
              <a:srgbClr val="D2DD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15887" y="2203704"/>
            <a:ext cx="9144" cy="347472"/>
          </a:xfrm>
          <a:prstGeom prst="rect">
            <a:avLst/>
          </a:prstGeom>
          <a:solidFill>
            <a:srgbClr val="5C6E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400173" y="2258568"/>
            <a:ext cx="15714" cy="237744"/>
          </a:xfrm>
          <a:prstGeom prst="rect">
            <a:avLst/>
          </a:prstGeom>
          <a:solidFill>
            <a:srgbClr val="B3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481767" y="2176272"/>
            <a:ext cx="1051560" cy="420624"/>
          </a:xfrm>
          <a:prstGeom prst="rect">
            <a:avLst/>
          </a:prstGeom>
          <a:noFill/>
        </p:spPr>
        <p:txBody>
          <a:bodyPr wrap="square">
            <a:spAutoFit/>
          </a:bodyPr>
          <a:lstStyle/>
          <a:p>
            <a:pPr algn="ctr"/>
            <a:r>
              <a:rPr sz="1400" b="1">
                <a:solidFill>
                  <a:srgbClr val="B3452C"/>
                </a:solidFill>
              </a:rPr>
              <a:t>-0.003</a:t>
            </a:r>
          </a:p>
        </p:txBody>
      </p:sp>
      <p:sp>
        <p:nvSpPr>
          <p:cNvPr id="14" name="TextBox 13"/>
          <p:cNvSpPr txBox="1"/>
          <p:nvPr/>
        </p:nvSpPr>
        <p:spPr>
          <a:xfrm>
            <a:off x="658368" y="2596896"/>
            <a:ext cx="1691640" cy="420624"/>
          </a:xfrm>
          <a:prstGeom prst="rect">
            <a:avLst/>
          </a:prstGeom>
          <a:noFill/>
        </p:spPr>
        <p:txBody>
          <a:bodyPr wrap="square">
            <a:spAutoFit/>
          </a:bodyPr>
          <a:lstStyle/>
          <a:p>
            <a:r>
              <a:rPr sz="1400">
                <a:solidFill>
                  <a:srgbClr val="5C6E78"/>
                </a:solidFill>
              </a:rPr>
              <a:t>k = 20</a:t>
            </a:r>
          </a:p>
        </p:txBody>
      </p:sp>
      <p:sp>
        <p:nvSpPr>
          <p:cNvPr id="15" name="Rectangle 14"/>
          <p:cNvSpPr/>
          <p:nvPr/>
        </p:nvSpPr>
        <p:spPr>
          <a:xfrm>
            <a:off x="2487168" y="2660904"/>
            <a:ext cx="7857439" cy="274320"/>
          </a:xfrm>
          <a:prstGeom prst="rect">
            <a:avLst/>
          </a:prstGeom>
          <a:solidFill>
            <a:srgbClr val="F2F5F6"/>
          </a:solidFill>
          <a:ln>
            <a:solidFill>
              <a:srgbClr val="D2DD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15887" y="2624328"/>
            <a:ext cx="9144" cy="347472"/>
          </a:xfrm>
          <a:prstGeom prst="rect">
            <a:avLst/>
          </a:prstGeom>
          <a:solidFill>
            <a:srgbClr val="5C6E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382916" y="2679192"/>
            <a:ext cx="3032971" cy="237744"/>
          </a:xfrm>
          <a:prstGeom prst="rect">
            <a:avLst/>
          </a:prstGeom>
          <a:solidFill>
            <a:srgbClr val="B345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81767" y="2596896"/>
            <a:ext cx="1051560" cy="420624"/>
          </a:xfrm>
          <a:prstGeom prst="rect">
            <a:avLst/>
          </a:prstGeom>
          <a:noFill/>
        </p:spPr>
        <p:txBody>
          <a:bodyPr wrap="square">
            <a:spAutoFit/>
          </a:bodyPr>
          <a:lstStyle/>
          <a:p>
            <a:pPr algn="ctr"/>
            <a:r>
              <a:rPr sz="1400" b="1">
                <a:solidFill>
                  <a:srgbClr val="B3452C"/>
                </a:solidFill>
              </a:rPr>
              <a:t>-0.618</a:t>
            </a:r>
          </a:p>
        </p:txBody>
      </p:sp>
      <p:sp>
        <p:nvSpPr>
          <p:cNvPr id="19" name="TextBox 18"/>
          <p:cNvSpPr txBox="1"/>
          <p:nvPr/>
        </p:nvSpPr>
        <p:spPr>
          <a:xfrm>
            <a:off x="658368" y="3200400"/>
            <a:ext cx="10874959" cy="3200400"/>
          </a:xfrm>
          <a:prstGeom prst="rect">
            <a:avLst/>
          </a:prstGeom>
          <a:noFill/>
        </p:spPr>
        <p:txBody>
          <a:bodyPr wrap="square">
            <a:spAutoFit/>
          </a:bodyPr>
          <a:lstStyle/>
          <a:p>
            <a:pPr>
              <a:spcAft>
                <a:spcPts val="1000"/>
              </a:spcAft>
            </a:pPr>
            <a:r>
              <a:rPr sz="1400">
                <a:solidFill>
                  <a:srgbClr val="16202A"/>
                </a:solidFill>
              </a:rPr>
              <a:t>Outpainting at the 200% ratio, on truck, paired within seed. The treatment is identical at every subset size — only the number of real photographs changes. Best single condition anywhere in the study: +0.285 dB.</a:t>
            </a:r>
          </a:p>
          <a:p>
            <a:pPr>
              <a:spcAft>
                <a:spcPts val="1000"/>
              </a:spcAft>
            </a:pPr>
            <a:r>
              <a:rPr sz="1400">
                <a:solidFill>
                  <a:srgbClr val="5C6E78"/>
                </a:solidFill>
              </a:rPr>
              <a:t>For scale: one extra real photograph between k = 5 and k = 10 is worth +1.91 dB total. Augmentation buys a fraction of a photograph, and only while photographs are scarce.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502920"/>
            <a:ext cx="10874959" cy="292608"/>
          </a:xfrm>
          <a:prstGeom prst="rect">
            <a:avLst/>
          </a:prstGeom>
          <a:noFill/>
        </p:spPr>
        <p:txBody>
          <a:bodyPr wrap="square">
            <a:spAutoFit/>
          </a:bodyPr>
          <a:lstStyle/>
          <a:p>
            <a:r>
              <a:rPr sz="1100" b="1">
                <a:solidFill>
                  <a:srgbClr val="0B6E7F"/>
                </a:solidFill>
              </a:rPr>
              <a:t>RESULT · WHAT IT LOOKS LIKE</a:t>
            </a:r>
          </a:p>
        </p:txBody>
      </p:sp>
      <p:pic>
        <p:nvPicPr>
          <p:cNvPr id="3" name="Picture 2" descr="image.jpg"/>
          <p:cNvPicPr>
            <a:picLocks noChangeAspect="1"/>
          </p:cNvPicPr>
          <p:nvPr/>
        </p:nvPicPr>
        <p:blipFill>
          <a:blip r:embed="rId2"/>
          <a:stretch>
            <a:fillRect/>
          </a:stretch>
        </p:blipFill>
        <p:spPr>
          <a:xfrm>
            <a:off x="658368" y="886968"/>
            <a:ext cx="10874959" cy="416447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502920"/>
            <a:ext cx="10874959" cy="292608"/>
          </a:xfrm>
          <a:prstGeom prst="rect">
            <a:avLst/>
          </a:prstGeom>
          <a:noFill/>
        </p:spPr>
        <p:txBody>
          <a:bodyPr wrap="square">
            <a:spAutoFit/>
          </a:bodyPr>
          <a:lstStyle/>
          <a:p>
            <a:r>
              <a:rPr sz="1100" b="1">
                <a:solidFill>
                  <a:srgbClr val="0B6E7F"/>
                </a:solidFill>
              </a:rPr>
              <a:t>GENERALISATION</a:t>
            </a:r>
          </a:p>
        </p:txBody>
      </p:sp>
      <p:sp>
        <p:nvSpPr>
          <p:cNvPr id="3" name="TextBox 2"/>
          <p:cNvSpPr txBox="1"/>
          <p:nvPr/>
        </p:nvSpPr>
        <p:spPr>
          <a:xfrm>
            <a:off x="658368" y="886968"/>
            <a:ext cx="10874959" cy="914400"/>
          </a:xfrm>
          <a:prstGeom prst="rect">
            <a:avLst/>
          </a:prstGeom>
          <a:noFill/>
        </p:spPr>
        <p:txBody>
          <a:bodyPr wrap="square">
            <a:spAutoFit/>
          </a:bodyPr>
          <a:lstStyle/>
          <a:p>
            <a:r>
              <a:rPr sz="2600" b="1">
                <a:solidFill>
                  <a:srgbClr val="16202A"/>
                </a:solidFill>
              </a:rPr>
              <a:t>It reproduces indoors</a:t>
            </a:r>
          </a:p>
        </p:txBody>
      </p:sp>
      <p:sp>
        <p:nvSpPr>
          <p:cNvPr id="4" name="TextBox 3"/>
          <p:cNvSpPr txBox="1"/>
          <p:nvPr/>
        </p:nvSpPr>
        <p:spPr>
          <a:xfrm>
            <a:off x="658368" y="1755648"/>
            <a:ext cx="3472586" cy="1828800"/>
          </a:xfrm>
          <a:prstGeom prst="rect">
            <a:avLst/>
          </a:prstGeom>
          <a:noFill/>
        </p:spPr>
        <p:txBody>
          <a:bodyPr wrap="square">
            <a:spAutoFit/>
          </a:bodyPr>
          <a:lstStyle/>
          <a:p>
            <a:r>
              <a:rPr sz="3000" b="1">
                <a:solidFill>
                  <a:srgbClr val="16202A"/>
                </a:solidFill>
              </a:rPr>
              <a:t>+0.989</a:t>
            </a:r>
          </a:p>
          <a:p>
            <a:r>
              <a:rPr sz="1200">
                <a:solidFill>
                  <a:srgbClr val="5C6E78"/>
                </a:solidFill>
              </a:rPr>
              <a:t>dB at k = 5 — stronger than outdoors</a:t>
            </a:r>
          </a:p>
        </p:txBody>
      </p:sp>
      <p:sp>
        <p:nvSpPr>
          <p:cNvPr id="5" name="TextBox 4"/>
          <p:cNvSpPr txBox="1"/>
          <p:nvPr/>
        </p:nvSpPr>
        <p:spPr>
          <a:xfrm>
            <a:off x="4359554" y="1755648"/>
            <a:ext cx="3472586" cy="1828800"/>
          </a:xfrm>
          <a:prstGeom prst="rect">
            <a:avLst/>
          </a:prstGeom>
          <a:noFill/>
        </p:spPr>
        <p:txBody>
          <a:bodyPr wrap="square">
            <a:spAutoFit/>
          </a:bodyPr>
          <a:lstStyle/>
          <a:p>
            <a:r>
              <a:rPr sz="3000" b="1">
                <a:solidFill>
                  <a:srgbClr val="16202A"/>
                </a:solidFill>
              </a:rPr>
              <a:t>-0.242</a:t>
            </a:r>
          </a:p>
          <a:p>
            <a:r>
              <a:rPr sz="1200">
                <a:solidFill>
                  <a:srgbClr val="5C6E78"/>
                </a:solidFill>
              </a:rPr>
              <a:t>dB at k = 20 — the sign flip repeats</a:t>
            </a:r>
          </a:p>
        </p:txBody>
      </p:sp>
      <p:sp>
        <p:nvSpPr>
          <p:cNvPr id="6" name="TextBox 5"/>
          <p:cNvSpPr txBox="1"/>
          <p:nvPr/>
        </p:nvSpPr>
        <p:spPr>
          <a:xfrm>
            <a:off x="8060740" y="1755648"/>
            <a:ext cx="3472586" cy="1828800"/>
          </a:xfrm>
          <a:prstGeom prst="rect">
            <a:avLst/>
          </a:prstGeom>
          <a:noFill/>
        </p:spPr>
        <p:txBody>
          <a:bodyPr wrap="square">
            <a:spAutoFit/>
          </a:bodyPr>
          <a:lstStyle/>
          <a:p>
            <a:r>
              <a:rPr sz="3000" b="1">
                <a:solidFill>
                  <a:srgbClr val="16202A"/>
                </a:solidFill>
              </a:rPr>
              <a:t>1.68</a:t>
            </a:r>
          </a:p>
          <a:p>
            <a:r>
              <a:rPr sz="1200">
                <a:solidFill>
                  <a:srgbClr val="5C6E78"/>
                </a:solidFill>
              </a:rPr>
              <a:t>dB baseline scatter between seeds — which five views you draw matters far more in a room</a:t>
            </a:r>
          </a:p>
        </p:txBody>
      </p:sp>
      <p:sp>
        <p:nvSpPr>
          <p:cNvPr id="7" name="TextBox 6"/>
          <p:cNvSpPr txBox="1"/>
          <p:nvPr/>
        </p:nvSpPr>
        <p:spPr>
          <a:xfrm>
            <a:off x="658368" y="3721608"/>
            <a:ext cx="10874959" cy="2679192"/>
          </a:xfrm>
          <a:prstGeom prst="rect">
            <a:avLst/>
          </a:prstGeom>
          <a:noFill/>
        </p:spPr>
        <p:txBody>
          <a:bodyPr wrap="square">
            <a:spAutoFit/>
          </a:bodyPr>
          <a:lstStyle/>
          <a:p>
            <a:pPr>
              <a:spcAft>
                <a:spcPts val="1000"/>
              </a:spcAft>
            </a:pPr>
            <a:r>
              <a:rPr sz="1600">
                <a:solidFill>
                  <a:srgbClr val="16202A"/>
                </a:solidFill>
              </a:rPr>
              <a:t>34 further runs repeat the outpainting sweep on drjohnson (Deep Blending, 230 views, an indoor room) — a different capture regime, a different scene scale.</a:t>
            </a:r>
          </a:p>
          <a:p>
            <a:pPr>
              <a:spcAft>
                <a:spcPts val="1000"/>
              </a:spcAft>
            </a:pPr>
            <a:r>
              <a:rPr sz="1400">
                <a:solidFill>
                  <a:srgbClr val="16202A"/>
                </a:solidFill>
              </a:rPr>
              <a:t>Indoors all three metrics move together, where on truck outpainting bought PSNR while SSIM stayed flat. Agreement across three metrics with different failure modes is much harder to get by chance than agreement in one.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502920"/>
            <a:ext cx="10874959" cy="292608"/>
          </a:xfrm>
          <a:prstGeom prst="rect">
            <a:avLst/>
          </a:prstGeom>
          <a:noFill/>
        </p:spPr>
        <p:txBody>
          <a:bodyPr wrap="square">
            <a:spAutoFit/>
          </a:bodyPr>
          <a:lstStyle/>
          <a:p>
            <a:r>
              <a:rPr sz="1100" b="1">
                <a:solidFill>
                  <a:srgbClr val="0B6E7F"/>
                </a:solidFill>
              </a:rPr>
              <a:t>EXPLANATION</a:t>
            </a:r>
          </a:p>
        </p:txBody>
      </p:sp>
      <p:sp>
        <p:nvSpPr>
          <p:cNvPr id="3" name="TextBox 2"/>
          <p:cNvSpPr txBox="1"/>
          <p:nvPr/>
        </p:nvSpPr>
        <p:spPr>
          <a:xfrm>
            <a:off x="658368" y="886968"/>
            <a:ext cx="10874959" cy="914400"/>
          </a:xfrm>
          <a:prstGeom prst="rect">
            <a:avLst/>
          </a:prstGeom>
          <a:noFill/>
        </p:spPr>
        <p:txBody>
          <a:bodyPr wrap="square">
            <a:spAutoFit/>
          </a:bodyPr>
          <a:lstStyle/>
          <a:p>
            <a:r>
              <a:rPr sz="2600" b="1">
                <a:solidFill>
                  <a:srgbClr val="16202A"/>
                </a:solidFill>
              </a:rPr>
              <a:t>Two terms, one decaying and one constant</a:t>
            </a:r>
          </a:p>
        </p:txBody>
      </p:sp>
      <p:sp>
        <p:nvSpPr>
          <p:cNvPr id="4" name="TextBox 3"/>
          <p:cNvSpPr txBox="1"/>
          <p:nvPr/>
        </p:nvSpPr>
        <p:spPr>
          <a:xfrm>
            <a:off x="658368" y="1755648"/>
            <a:ext cx="5323179" cy="1828800"/>
          </a:xfrm>
          <a:prstGeom prst="rect">
            <a:avLst/>
          </a:prstGeom>
          <a:noFill/>
        </p:spPr>
        <p:txBody>
          <a:bodyPr wrap="square">
            <a:spAutoFit/>
          </a:bodyPr>
          <a:lstStyle/>
          <a:p/>
          <a:p>
            <a:r>
              <a:rPr sz="1500" b="1">
                <a:solidFill>
                  <a:srgbClr val="16202A"/>
                </a:solidFill>
              </a:rPr>
              <a:t>Coverage — decays</a:t>
            </a:r>
          </a:p>
          <a:p>
            <a:r>
              <a:rPr sz="1200">
                <a:solidFill>
                  <a:srgbClr val="5C6E78"/>
                </a:solidFill>
              </a:rPr>
              <a:t>A synthetic view supplies scene content no real camera saw. That is worth a lot at five views and very little at twenty: the per-view value of a real photograph falls by an order of magnitude across the same range.</a:t>
            </a:r>
          </a:p>
        </p:txBody>
      </p:sp>
      <p:sp>
        <p:nvSpPr>
          <p:cNvPr id="5" name="TextBox 4"/>
          <p:cNvSpPr txBox="1"/>
          <p:nvPr/>
        </p:nvSpPr>
        <p:spPr>
          <a:xfrm>
            <a:off x="6210147" y="1755648"/>
            <a:ext cx="5323179" cy="1828800"/>
          </a:xfrm>
          <a:prstGeom prst="rect">
            <a:avLst/>
          </a:prstGeom>
          <a:noFill/>
        </p:spPr>
        <p:txBody>
          <a:bodyPr wrap="square">
            <a:spAutoFit/>
          </a:bodyPr>
          <a:lstStyle/>
          <a:p/>
          <a:p>
            <a:r>
              <a:rPr sz="1500" b="1">
                <a:solidFill>
                  <a:srgbClr val="16202A"/>
                </a:solidFill>
              </a:rPr>
              <a:t>Inconsistency — does not decay</a:t>
            </a:r>
          </a:p>
          <a:p>
            <a:r>
              <a:rPr sz="1200">
                <a:solidFill>
                  <a:srgbClr val="5C6E78"/>
                </a:solidFill>
              </a:rPr>
              <a:t>A fabricated view contradicts the others. A contradiction is just as harmful at twenty views as at five — arguably worse, because it now contradicts a better-determined geometry.</a:t>
            </a:r>
          </a:p>
        </p:txBody>
      </p:sp>
      <p:sp>
        <p:nvSpPr>
          <p:cNvPr id="6" name="TextBox 5"/>
          <p:cNvSpPr txBox="1"/>
          <p:nvPr/>
        </p:nvSpPr>
        <p:spPr>
          <a:xfrm>
            <a:off x="658368" y="3721608"/>
            <a:ext cx="10874959" cy="2679192"/>
          </a:xfrm>
          <a:prstGeom prst="rect">
            <a:avLst/>
          </a:prstGeom>
          <a:noFill/>
        </p:spPr>
        <p:txBody>
          <a:bodyPr wrap="square">
            <a:spAutoFit/>
          </a:bodyPr>
          <a:lstStyle/>
          <a:p>
            <a:pPr>
              <a:spcAft>
                <a:spcPts val="1000"/>
              </a:spcAft>
            </a:pPr>
            <a:r>
              <a:rPr sz="1400">
                <a:solidFill>
                  <a:srgbClr val="16202A"/>
                </a:solidFill>
              </a:rPr>
              <a:t>A synthetic view supplies scene content no real camera saw. That is worth a lot at five views and very little at twenty: the per-view value of a real photograph falls by an order of magnitude across the same range.</a:t>
            </a:r>
          </a:p>
          <a:p>
            <a:pPr>
              <a:spcAft>
                <a:spcPts val="1000"/>
              </a:spcAft>
            </a:pPr>
            <a:r>
              <a:rPr sz="1400">
                <a:solidFill>
                  <a:srgbClr val="16202A"/>
                </a:solidFill>
              </a:rPr>
              <a:t>A fabricated view contradicts the others. A contradiction is just as harmful at twenty views as at five — arguably worse, because it now contradicts a better-determined geometry.</a:t>
            </a:r>
          </a:p>
          <a:p>
            <a:pPr>
              <a:spcAft>
                <a:spcPts val="1000"/>
              </a:spcAft>
            </a:pPr>
            <a:r>
              <a:rPr sz="1400">
                <a:solidFill>
                  <a:srgbClr val="16202A"/>
                </a:solidFill>
              </a:rPr>
              <a:t>A decaying benefit plus a roughly constant cost is sufficient to produce a sign change. That is an explanation, and explanations are cheap — so it was made to predict something that could fail.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502920"/>
            <a:ext cx="10874959" cy="292608"/>
          </a:xfrm>
          <a:prstGeom prst="rect">
            <a:avLst/>
          </a:prstGeom>
          <a:noFill/>
        </p:spPr>
        <p:txBody>
          <a:bodyPr wrap="square">
            <a:spAutoFit/>
          </a:bodyPr>
          <a:lstStyle/>
          <a:p>
            <a:r>
              <a:rPr sz="1100" b="1">
                <a:solidFill>
                  <a:srgbClr val="0B6E7F"/>
                </a:solidFill>
              </a:rPr>
              <a:t>IS IT JUST THIS ONE MODEL?</a:t>
            </a:r>
          </a:p>
        </p:txBody>
      </p:sp>
      <p:sp>
        <p:nvSpPr>
          <p:cNvPr id="3" name="TextBox 2"/>
          <p:cNvSpPr txBox="1"/>
          <p:nvPr/>
        </p:nvSpPr>
        <p:spPr>
          <a:xfrm>
            <a:off x="658368" y="886968"/>
            <a:ext cx="10874959" cy="914400"/>
          </a:xfrm>
          <a:prstGeom prst="rect">
            <a:avLst/>
          </a:prstGeom>
          <a:noFill/>
        </p:spPr>
        <p:txBody>
          <a:bodyPr wrap="square">
            <a:spAutoFit/>
          </a:bodyPr>
          <a:lstStyle/>
          <a:p>
            <a:r>
              <a:rPr sz="2600" b="1">
                <a:solidFill>
                  <a:srgbClr val="16202A"/>
                </a:solidFill>
              </a:rPr>
              <a:t>A second checkpoint reverses in the same place</a:t>
            </a:r>
          </a:p>
        </p:txBody>
      </p:sp>
      <p:graphicFrame>
        <p:nvGraphicFramePr>
          <p:cNvPr id="4" name="Table 3"/>
          <p:cNvGraphicFramePr>
            <a:graphicFrameLocks noGrp="1"/>
          </p:cNvGraphicFramePr>
          <p:nvPr/>
        </p:nvGraphicFramePr>
        <p:xfrm>
          <a:off x="658368" y="1755648"/>
          <a:ext cx="10874959" cy="1673351"/>
        </p:xfrm>
        <a:graphic>
          <a:graphicData uri="http://schemas.openxmlformats.org/drawingml/2006/table">
            <a:tbl>
              <a:tblPr firstRow="1" bandRow="1">
                <a:tableStyleId>{5C22544A-7EE6-4342-B048-85BDC9FD1C3A}</a:tableStyleId>
              </a:tblPr>
              <a:tblGrid>
                <a:gridCol w="3624986"/>
                <a:gridCol w="3624986"/>
                <a:gridCol w="3624987"/>
              </a:tblGrid>
              <a:tr h="418337">
                <a:tc>
                  <a:txBody>
                    <a:bodyPr/>
                    <a:lstStyle/>
                    <a:p>
                      <a:r>
                        <a:rPr sz="1500" b="1">
                          <a:solidFill>
                            <a:srgbClr val="16202A"/>
                          </a:solidFill>
                        </a:rPr>
                        <a:t>real views</a:t>
                      </a:r>
                    </a:p>
                  </a:txBody>
                  <a:tcPr/>
                </a:tc>
                <a:tc>
                  <a:txBody>
                    <a:bodyPr/>
                    <a:lstStyle/>
                    <a:p>
                      <a:r>
                        <a:rPr sz="1500" b="1">
                          <a:solidFill>
                            <a:srgbClr val="16202A"/>
                          </a:solidFill>
                        </a:rPr>
                        <a:t>SD 1.5</a:t>
                      </a:r>
                    </a:p>
                  </a:txBody>
                  <a:tcPr/>
                </a:tc>
                <a:tc>
                  <a:txBody>
                    <a:bodyPr/>
                    <a:lstStyle/>
                    <a:p>
                      <a:r>
                        <a:rPr sz="1500" b="1">
                          <a:solidFill>
                            <a:srgbClr val="16202A"/>
                          </a:solidFill>
                        </a:rPr>
                        <a:t>Dreamshaper-8</a:t>
                      </a:r>
                    </a:p>
                  </a:txBody>
                  <a:tcPr/>
                </a:tc>
              </a:tr>
              <a:tr h="418337">
                <a:tc>
                  <a:txBody>
                    <a:bodyPr/>
                    <a:lstStyle/>
                    <a:p>
                      <a:r>
                        <a:rPr sz="1500">
                          <a:solidFill>
                            <a:srgbClr val="16202A"/>
                          </a:solidFill>
                        </a:rPr>
                        <a:t>5</a:t>
                      </a:r>
                    </a:p>
                  </a:txBody>
                  <a:tcPr/>
                </a:tc>
                <a:tc>
                  <a:txBody>
                    <a:bodyPr/>
                    <a:lstStyle/>
                    <a:p>
                      <a:r>
                        <a:rPr sz="1500">
                          <a:solidFill>
                            <a:srgbClr val="1C7C54"/>
                          </a:solidFill>
                        </a:rPr>
                        <a:t>+0.285</a:t>
                      </a:r>
                    </a:p>
                  </a:txBody>
                  <a:tcPr/>
                </a:tc>
                <a:tc>
                  <a:txBody>
                    <a:bodyPr/>
                    <a:lstStyle/>
                    <a:p>
                      <a:r>
                        <a:rPr sz="1500">
                          <a:solidFill>
                            <a:srgbClr val="1C7C54"/>
                          </a:solidFill>
                        </a:rPr>
                        <a:t>+0.193</a:t>
                      </a:r>
                    </a:p>
                  </a:txBody>
                  <a:tcPr/>
                </a:tc>
              </a:tr>
              <a:tr h="418337">
                <a:tc>
                  <a:txBody>
                    <a:bodyPr/>
                    <a:lstStyle/>
                    <a:p>
                      <a:r>
                        <a:rPr sz="1500">
                          <a:solidFill>
                            <a:srgbClr val="16202A"/>
                          </a:solidFill>
                        </a:rPr>
                        <a:t>10</a:t>
                      </a:r>
                    </a:p>
                  </a:txBody>
                  <a:tcPr/>
                </a:tc>
                <a:tc>
                  <a:txBody>
                    <a:bodyPr/>
                    <a:lstStyle/>
                    <a:p>
                      <a:r>
                        <a:rPr sz="1500">
                          <a:solidFill>
                            <a:srgbClr val="B3452C"/>
                          </a:solidFill>
                        </a:rPr>
                        <a:t>-0.003</a:t>
                      </a:r>
                    </a:p>
                  </a:txBody>
                  <a:tcPr/>
                </a:tc>
                <a:tc>
                  <a:txBody>
                    <a:bodyPr/>
                    <a:lstStyle/>
                    <a:p>
                      <a:r>
                        <a:rPr sz="1500">
                          <a:solidFill>
                            <a:srgbClr val="B3452C"/>
                          </a:solidFill>
                        </a:rPr>
                        <a:t>-0.163</a:t>
                      </a:r>
                    </a:p>
                  </a:txBody>
                  <a:tcPr/>
                </a:tc>
              </a:tr>
              <a:tr h="418340">
                <a:tc>
                  <a:txBody>
                    <a:bodyPr/>
                    <a:lstStyle/>
                    <a:p>
                      <a:r>
                        <a:rPr sz="1500">
                          <a:solidFill>
                            <a:srgbClr val="16202A"/>
                          </a:solidFill>
                        </a:rPr>
                        <a:t>20</a:t>
                      </a:r>
                    </a:p>
                  </a:txBody>
                  <a:tcPr/>
                </a:tc>
                <a:tc>
                  <a:txBody>
                    <a:bodyPr/>
                    <a:lstStyle/>
                    <a:p>
                      <a:r>
                        <a:rPr sz="1500">
                          <a:solidFill>
                            <a:srgbClr val="B3452C"/>
                          </a:solidFill>
                        </a:rPr>
                        <a:t>-0.618</a:t>
                      </a:r>
                    </a:p>
                  </a:txBody>
                  <a:tcPr/>
                </a:tc>
                <a:tc>
                  <a:txBody>
                    <a:bodyPr/>
                    <a:lstStyle/>
                    <a:p>
                      <a:r>
                        <a:rPr sz="1500">
                          <a:solidFill>
                            <a:srgbClr val="B3452C"/>
                          </a:solidFill>
                        </a:rPr>
                        <a:t>-0.825</a:t>
                      </a:r>
                    </a:p>
                  </a:txBody>
                  <a:tcPr/>
                </a:tc>
              </a:tr>
            </a:tbl>
          </a:graphicData>
        </a:graphic>
      </p:graphicFrame>
      <p:sp>
        <p:nvSpPr>
          <p:cNvPr id="5" name="TextBox 4"/>
          <p:cNvSpPr txBox="1"/>
          <p:nvPr/>
        </p:nvSpPr>
        <p:spPr>
          <a:xfrm>
            <a:off x="658368" y="3657599"/>
            <a:ext cx="10874959" cy="2743201"/>
          </a:xfrm>
          <a:prstGeom prst="rect">
            <a:avLst/>
          </a:prstGeom>
          <a:noFill/>
        </p:spPr>
        <p:txBody>
          <a:bodyPr wrap="square">
            <a:spAutoFit/>
          </a:bodyPr>
          <a:lstStyle/>
          <a:p>
            <a:pPr>
              <a:spcAft>
                <a:spcPts val="1000"/>
              </a:spcAft>
            </a:pPr>
            <a:r>
              <a:rPr sz="1600">
                <a:solidFill>
                  <a:srgbClr val="16202A"/>
                </a:solidFill>
              </a:rPr>
              <a:t>The obvious objection: perhaps the crossover is a property of Stable Diffusion 1.5 rather than of augmentation. Dreamshaper-8 — same architecture, same VRAM budget, better photorealism — answers it.</a:t>
            </a:r>
          </a:p>
          <a:p>
            <a:pPr>
              <a:spcAft>
                <a:spcPts val="1000"/>
              </a:spcAft>
            </a:pPr>
            <a:r>
              <a:rPr sz="1400">
                <a:solidFill>
                  <a:srgbClr val="16202A"/>
                </a:solidFill>
              </a:rPr>
              <a:t>Same reversal, different checkpoint. And the better-looking model is worse at every subset size — it even crosses over earlier, turning negative at k = 10 where SD 1.5 is still at zero.</a:t>
            </a:r>
          </a:p>
          <a:p>
            <a:pPr>
              <a:spcAft>
                <a:spcPts val="1000"/>
              </a:spcAft>
            </a:pPr>
            <a:r>
              <a:rPr sz="1400">
                <a:solidFill>
                  <a:srgbClr val="5C6E78"/>
                </a:solidFill>
              </a:rPr>
              <a:t>A model finetuned to make each image individually more convincing has no reason to be more consistent between images. Photorealism is not what a synthetic view contributes.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502920"/>
            <a:ext cx="10874959" cy="292608"/>
          </a:xfrm>
          <a:prstGeom prst="rect">
            <a:avLst/>
          </a:prstGeom>
          <a:noFill/>
        </p:spPr>
        <p:txBody>
          <a:bodyPr wrap="square">
            <a:spAutoFit/>
          </a:bodyPr>
          <a:lstStyle/>
          <a:p>
            <a:r>
              <a:rPr sz="1100" b="1">
                <a:solidFill>
                  <a:srgbClr val="0B6E7F"/>
                </a:solidFill>
              </a:rPr>
              <a:t>PREDICTION 1 · HELD</a:t>
            </a:r>
          </a:p>
        </p:txBody>
      </p:sp>
      <p:sp>
        <p:nvSpPr>
          <p:cNvPr id="3" name="TextBox 2"/>
          <p:cNvSpPr txBox="1"/>
          <p:nvPr/>
        </p:nvSpPr>
        <p:spPr>
          <a:xfrm>
            <a:off x="658368" y="886968"/>
            <a:ext cx="10874959" cy="914400"/>
          </a:xfrm>
          <a:prstGeom prst="rect">
            <a:avLst/>
          </a:prstGeom>
          <a:noFill/>
        </p:spPr>
        <p:txBody>
          <a:bodyPr wrap="square">
            <a:spAutoFit/>
          </a:bodyPr>
          <a:lstStyle/>
          <a:p>
            <a:r>
              <a:rPr sz="2600" b="1">
                <a:solidFill>
                  <a:srgbClr val="16202A"/>
                </a:solidFill>
              </a:rPr>
              <a:t>Constraint without a viewpoint should never cross over</a:t>
            </a:r>
          </a:p>
        </p:txBody>
      </p:sp>
      <p:sp>
        <p:nvSpPr>
          <p:cNvPr id="4" name="TextBox 3"/>
          <p:cNvSpPr txBox="1"/>
          <p:nvPr/>
        </p:nvSpPr>
        <p:spPr>
          <a:xfrm>
            <a:off x="658368" y="1755648"/>
            <a:ext cx="2547289" cy="1828800"/>
          </a:xfrm>
          <a:prstGeom prst="rect">
            <a:avLst/>
          </a:prstGeom>
          <a:noFill/>
        </p:spPr>
        <p:txBody>
          <a:bodyPr wrap="square">
            <a:spAutoFit/>
          </a:bodyPr>
          <a:lstStyle/>
          <a:p>
            <a:r>
              <a:rPr sz="3000" b="1">
                <a:solidFill>
                  <a:srgbClr val="16202A"/>
                </a:solidFill>
              </a:rPr>
              <a:t>+0.259</a:t>
            </a:r>
          </a:p>
          <a:p>
            <a:r>
              <a:rPr sz="1200">
                <a:solidFill>
                  <a:srgbClr val="5C6E78"/>
                </a:solidFill>
              </a:rPr>
              <a:t>dB at k = 5</a:t>
            </a:r>
          </a:p>
        </p:txBody>
      </p:sp>
      <p:sp>
        <p:nvSpPr>
          <p:cNvPr id="5" name="TextBox 4"/>
          <p:cNvSpPr txBox="1"/>
          <p:nvPr/>
        </p:nvSpPr>
        <p:spPr>
          <a:xfrm>
            <a:off x="3434257" y="1755648"/>
            <a:ext cx="2547289" cy="1828800"/>
          </a:xfrm>
          <a:prstGeom prst="rect">
            <a:avLst/>
          </a:prstGeom>
          <a:noFill/>
        </p:spPr>
        <p:txBody>
          <a:bodyPr wrap="square">
            <a:spAutoFit/>
          </a:bodyPr>
          <a:lstStyle/>
          <a:p>
            <a:r>
              <a:rPr sz="3000" b="1">
                <a:solidFill>
                  <a:srgbClr val="16202A"/>
                </a:solidFill>
              </a:rPr>
              <a:t>+0.163</a:t>
            </a:r>
          </a:p>
          <a:p>
            <a:r>
              <a:rPr sz="1200">
                <a:solidFill>
                  <a:srgbClr val="5C6E78"/>
                </a:solidFill>
              </a:rPr>
              <a:t>dB at k = 10</a:t>
            </a:r>
          </a:p>
        </p:txBody>
      </p:sp>
      <p:sp>
        <p:nvSpPr>
          <p:cNvPr id="6" name="TextBox 5"/>
          <p:cNvSpPr txBox="1"/>
          <p:nvPr/>
        </p:nvSpPr>
        <p:spPr>
          <a:xfrm>
            <a:off x="6210146" y="1755648"/>
            <a:ext cx="2547289" cy="1828800"/>
          </a:xfrm>
          <a:prstGeom prst="rect">
            <a:avLst/>
          </a:prstGeom>
          <a:noFill/>
        </p:spPr>
        <p:txBody>
          <a:bodyPr wrap="square">
            <a:spAutoFit/>
          </a:bodyPr>
          <a:lstStyle/>
          <a:p>
            <a:r>
              <a:rPr sz="3000" b="1">
                <a:solidFill>
                  <a:srgbClr val="16202A"/>
                </a:solidFill>
              </a:rPr>
              <a:t>+0.155</a:t>
            </a:r>
          </a:p>
          <a:p>
            <a:r>
              <a:rPr sz="1200">
                <a:solidFill>
                  <a:srgbClr val="5C6E78"/>
                </a:solidFill>
              </a:rPr>
              <a:t>dB at k = 20 — still positive</a:t>
            </a:r>
          </a:p>
        </p:txBody>
      </p:sp>
      <p:sp>
        <p:nvSpPr>
          <p:cNvPr id="7" name="TextBox 6"/>
          <p:cNvSpPr txBox="1"/>
          <p:nvPr/>
        </p:nvSpPr>
        <p:spPr>
          <a:xfrm>
            <a:off x="8986035" y="1755648"/>
            <a:ext cx="2547289" cy="1828800"/>
          </a:xfrm>
          <a:prstGeom prst="rect">
            <a:avLst/>
          </a:prstGeom>
          <a:noFill/>
        </p:spPr>
        <p:txBody>
          <a:bodyPr wrap="square">
            <a:spAutoFit/>
          </a:bodyPr>
          <a:lstStyle/>
          <a:p>
            <a:r>
              <a:rPr sz="3000" b="1">
                <a:solidFill>
                  <a:srgbClr val="16202A"/>
                </a:solidFill>
              </a:rPr>
              <a:t>+0.714</a:t>
            </a:r>
          </a:p>
          <a:p>
            <a:r>
              <a:rPr sz="1200">
                <a:solidFill>
                  <a:srgbClr val="5C6E78"/>
                </a:solidFill>
              </a:rPr>
              <a:t>dB combined with outpainting at k = 5 — the largest gain in the study</a:t>
            </a:r>
          </a:p>
        </p:txBody>
      </p:sp>
      <p:sp>
        <p:nvSpPr>
          <p:cNvPr id="8" name="TextBox 7"/>
          <p:cNvSpPr txBox="1"/>
          <p:nvPr/>
        </p:nvSpPr>
        <p:spPr>
          <a:xfrm>
            <a:off x="658368" y="3721608"/>
            <a:ext cx="10874959" cy="2679192"/>
          </a:xfrm>
          <a:prstGeom prst="rect">
            <a:avLst/>
          </a:prstGeom>
          <a:noFill/>
        </p:spPr>
        <p:txBody>
          <a:bodyPr wrap="square">
            <a:spAutoFit/>
          </a:bodyPr>
          <a:lstStyle/>
          <a:p>
            <a:pPr>
              <a:spcAft>
                <a:spcPts val="1000"/>
              </a:spcAft>
            </a:pPr>
            <a:r>
              <a:rPr sz="1600">
                <a:solidFill>
                  <a:srgbClr val="16202A"/>
                </a:solidFill>
              </a:rPr>
              <a:t>If the harm is inconsistency, an intervention that supplies geometric constraint without inventing a camera has no contradictory geometry to accumulate — so it should stay positive at every subset size.</a:t>
            </a:r>
          </a:p>
          <a:p>
            <a:pPr>
              <a:spcAft>
                <a:spcPts val="1000"/>
              </a:spcAft>
            </a:pPr>
            <a:r>
              <a:rPr sz="1400">
                <a:solidFill>
                  <a:srgbClr val="16202A"/>
                </a:solidFill>
              </a:rPr>
              <a:t>Monocular depth regularisation is that intervention: a depth map per real photograph, anchored to true scale against the sparse SfM points that view observes (median R² 0.964). Synthetic views receive no depth supervision — estimating depth from a fabricated image would be circular.</a:t>
            </a:r>
          </a:p>
          <a:p>
            <a:pPr>
              <a:spcAft>
                <a:spcPts val="1000"/>
              </a:spcAft>
            </a:pPr>
            <a:r>
              <a:rPr sz="1400">
                <a:solidFill>
                  <a:srgbClr val="5C6E78"/>
                </a:solidFill>
              </a:rPr>
              <a:t>Coverage crosses over; constraint does not. The two interventions differ in exactly one respect — whether a camera that never existed is invented.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502920"/>
            <a:ext cx="10874959" cy="292608"/>
          </a:xfrm>
          <a:prstGeom prst="rect">
            <a:avLst/>
          </a:prstGeom>
          <a:noFill/>
        </p:spPr>
        <p:txBody>
          <a:bodyPr wrap="square">
            <a:spAutoFit/>
          </a:bodyPr>
          <a:lstStyle/>
          <a:p>
            <a:r>
              <a:rPr sz="1100" b="1">
                <a:solidFill>
                  <a:srgbClr val="0B6E7F"/>
                </a:solidFill>
              </a:rPr>
              <a:t>CONCLUSION</a:t>
            </a:r>
          </a:p>
        </p:txBody>
      </p:sp>
      <p:sp>
        <p:nvSpPr>
          <p:cNvPr id="3" name="TextBox 2"/>
          <p:cNvSpPr txBox="1"/>
          <p:nvPr/>
        </p:nvSpPr>
        <p:spPr>
          <a:xfrm>
            <a:off x="658368" y="886968"/>
            <a:ext cx="10874959" cy="914400"/>
          </a:xfrm>
          <a:prstGeom prst="rect">
            <a:avLst/>
          </a:prstGeom>
          <a:noFill/>
        </p:spPr>
        <p:txBody>
          <a:bodyPr wrap="square">
            <a:spAutoFit/>
          </a:bodyPr>
          <a:lstStyle/>
          <a:p>
            <a:r>
              <a:rPr sz="2600" b="1">
                <a:solidFill>
                  <a:srgbClr val="16202A"/>
                </a:solidFill>
              </a:rPr>
              <a:t>What both scenes say together</a:t>
            </a:r>
          </a:p>
        </p:txBody>
      </p:sp>
      <p:sp>
        <p:nvSpPr>
          <p:cNvPr id="4" name="TextBox 3"/>
          <p:cNvSpPr txBox="1"/>
          <p:nvPr/>
        </p:nvSpPr>
        <p:spPr>
          <a:xfrm>
            <a:off x="658368" y="1755648"/>
            <a:ext cx="10874959" cy="4645152"/>
          </a:xfrm>
          <a:prstGeom prst="rect">
            <a:avLst/>
          </a:prstGeom>
          <a:noFill/>
        </p:spPr>
        <p:txBody>
          <a:bodyPr wrap="square">
            <a:spAutoFit/>
          </a:bodyPr>
          <a:lstStyle/>
          <a:p>
            <a:pPr>
              <a:spcAft>
                <a:spcPts val="900"/>
              </a:spcAft>
            </a:pPr>
            <a:r>
              <a:rPr sz="1500">
                <a:solidFill>
                  <a:srgbClr val="16202A"/>
                </a:solidFill>
              </a:rPr>
              <a:t>•  Diffusion augmentation is not free coverage. It helps only while real views are in the single digits, and the crossover reproduces outdoors and indoors.</a:t>
            </a:r>
          </a:p>
          <a:p>
            <a:pPr>
              <a:spcAft>
                <a:spcPts val="900"/>
              </a:spcAft>
            </a:pPr>
            <a:r>
              <a:rPr sz="1500">
                <a:solidFill>
                  <a:srgbClr val="16202A"/>
                </a:solidFill>
              </a:rPr>
              <a:t>•  The mechanism is pose novelty. Four controls exclude image quality, hallucinated hole content, warping artifacts, and mere view repetition.</a:t>
            </a:r>
          </a:p>
          <a:p>
            <a:pPr>
              <a:spcAft>
                <a:spcPts val="900"/>
              </a:spcAft>
            </a:pPr>
            <a:r>
              <a:rPr sz="1500">
                <a:solidFill>
                  <a:srgbClr val="16202A"/>
                </a:solidFill>
              </a:rPr>
              <a:t>•  Constraint beats invention. A depth prior is positive at every subset size and compounds with augmentation; anything that invents a camera eventually reverses sign. It also outlasts it: at 30,000 iterations outpainting is worth -0.078 dB and the prior still +0.208.</a:t>
            </a:r>
          </a:p>
          <a:p>
            <a:pPr>
              <a:spcAft>
                <a:spcPts val="900"/>
              </a:spcAft>
            </a:pPr>
            <a:r>
              <a:rPr sz="1500">
                <a:solidFill>
                  <a:srgbClr val="16202A"/>
                </a:solidFill>
              </a:rPr>
              <a:t>•  The two effects are separable. Outpainting supplies peripheral content, the depth prior supplies constraint — and combining them exceeds the sum of the parts at every subset size.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502920"/>
            <a:ext cx="10874959" cy="292608"/>
          </a:xfrm>
          <a:prstGeom prst="rect">
            <a:avLst/>
          </a:prstGeom>
          <a:noFill/>
        </p:spPr>
        <p:txBody>
          <a:bodyPr wrap="square">
            <a:spAutoFit/>
          </a:bodyPr>
          <a:lstStyle/>
          <a:p>
            <a:r>
              <a:rPr sz="1100" b="1">
                <a:solidFill>
                  <a:srgbClr val="0B6E7F"/>
                </a:solidFill>
              </a:rPr>
              <a:t>LIMITATIONS</a:t>
            </a:r>
          </a:p>
        </p:txBody>
      </p:sp>
      <p:sp>
        <p:nvSpPr>
          <p:cNvPr id="3" name="TextBox 2"/>
          <p:cNvSpPr txBox="1"/>
          <p:nvPr/>
        </p:nvSpPr>
        <p:spPr>
          <a:xfrm>
            <a:off x="658368" y="886968"/>
            <a:ext cx="10874959" cy="914400"/>
          </a:xfrm>
          <a:prstGeom prst="rect">
            <a:avLst/>
          </a:prstGeom>
          <a:noFill/>
        </p:spPr>
        <p:txBody>
          <a:bodyPr wrap="square">
            <a:spAutoFit/>
          </a:bodyPr>
          <a:lstStyle/>
          <a:p>
            <a:r>
              <a:rPr sz="2600" b="1">
                <a:solidFill>
                  <a:srgbClr val="16202A"/>
                </a:solidFill>
              </a:rPr>
              <a:t>What this does not show</a:t>
            </a:r>
          </a:p>
        </p:txBody>
      </p:sp>
      <p:sp>
        <p:nvSpPr>
          <p:cNvPr id="4" name="TextBox 3"/>
          <p:cNvSpPr txBox="1"/>
          <p:nvPr/>
        </p:nvSpPr>
        <p:spPr>
          <a:xfrm>
            <a:off x="658368" y="1755648"/>
            <a:ext cx="10874959" cy="4645152"/>
          </a:xfrm>
          <a:prstGeom prst="rect">
            <a:avLst/>
          </a:prstGeom>
          <a:noFill/>
        </p:spPr>
        <p:txBody>
          <a:bodyPr wrap="square">
            <a:spAutoFit/>
          </a:bodyPr>
          <a:lstStyle/>
          <a:p>
            <a:pPr>
              <a:spcAft>
                <a:spcPts val="900"/>
              </a:spcAft>
            </a:pPr>
            <a:r>
              <a:rPr sz="1500">
                <a:solidFill>
                  <a:srgbClr val="16202A"/>
                </a:solidFill>
              </a:rPr>
              <a:t>•  The 7,000-iteration setting is load-bearing. The benefit decays monotonically with training length — outpainting at k = 5 goes +0.285 → +0.045 → -0.078 dB at 7k, 15k and 30k. The baseline is flat from 7k to 15k (15.20 → 15.22) and lower by 30k (15.04), so the setting is not mis-chosen: 30,000 is past this regime's optimum, not better converged. The augmentation gain is conditional on early stopping; the depth prior is not.</a:t>
            </a:r>
          </a:p>
          <a:p>
            <a:pPr>
              <a:spcAft>
                <a:spcPts val="900"/>
              </a:spcAft>
            </a:pPr>
            <a:r>
              <a:rPr sz="1500">
                <a:solidFill>
                  <a:srgbClr val="16202A"/>
                </a:solidFill>
              </a:rPr>
              <a:t>•  Two checkpoints, one architecture. Dreamshaper-8 is an SD 1.5 finetune, so the swap varies image quality, not architecture. SDXL needs ~6.5 GB and FLUX ~54 GB against this card's 4 GB.</a:t>
            </a:r>
          </a:p>
          <a:p>
            <a:pPr>
              <a:spcAft>
                <a:spcPts val="900"/>
              </a:spcAft>
            </a:pPr>
            <a:r>
              <a:rPr sz="1500">
                <a:solidFill>
                  <a:srgbClr val="16202A"/>
                </a:solidFill>
              </a:rPr>
              <a:t>•  Three seeds. A consistency check, not statistical significance.</a:t>
            </a:r>
          </a:p>
          <a:p>
            <a:pPr>
              <a:spcAft>
                <a:spcPts val="900"/>
              </a:spcAft>
            </a:pPr>
            <a:r>
              <a:rPr sz="1500">
                <a:solidFill>
                  <a:srgbClr val="16202A"/>
                </a:solidFill>
              </a:rPr>
              <a:t>•  Two scenes, one partially swept. The second scene was swept for outpainting only, at k = 5 and k = 20. "Inpainting is flat" and "pose-guided always hurts" remain single-scene claims.</a:t>
            </a:r>
          </a:p>
          <a:p>
            <a:pPr>
              <a:spcAft>
                <a:spcPts val="900"/>
              </a:spcAft>
            </a:pPr>
            <a:r>
              <a:rPr sz="1500">
                <a:solidFill>
                  <a:srgbClr val="16202A"/>
                </a:solidFill>
              </a:rPr>
              <a:t>•  The depth prior's compounding is single-scene. It reproduces on drjohnson as a gain, but the interaction there is +0.075 ± 0.672 dB — additive, not super-additive. And at k = 20 after 30,000 iterations it is +0.130 dB, no longer clear of the noise floor.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502920"/>
            <a:ext cx="10874959" cy="292608"/>
          </a:xfrm>
          <a:prstGeom prst="rect">
            <a:avLst/>
          </a:prstGeom>
          <a:noFill/>
        </p:spPr>
        <p:txBody>
          <a:bodyPr wrap="square">
            <a:spAutoFit/>
          </a:bodyPr>
          <a:lstStyle/>
          <a:p>
            <a:r>
              <a:rPr sz="1100" b="1">
                <a:solidFill>
                  <a:srgbClr val="0B6E7F"/>
                </a:solidFill>
              </a:rPr>
              <a:t>IN ONE SENTENCE</a:t>
            </a:r>
          </a:p>
        </p:txBody>
      </p:sp>
      <p:sp>
        <p:nvSpPr>
          <p:cNvPr id="3" name="TextBox 2"/>
          <p:cNvSpPr txBox="1"/>
          <p:nvPr/>
        </p:nvSpPr>
        <p:spPr>
          <a:xfrm>
            <a:off x="658368" y="886968"/>
            <a:ext cx="10874959" cy="1371600"/>
          </a:xfrm>
          <a:prstGeom prst="rect">
            <a:avLst/>
          </a:prstGeom>
          <a:noFill/>
        </p:spPr>
        <p:txBody>
          <a:bodyPr wrap="square">
            <a:spAutoFit/>
          </a:bodyPr>
          <a:lstStyle/>
          <a:p>
            <a:r>
              <a:rPr sz="3400" b="1">
                <a:solidFill>
                  <a:srgbClr val="16202A"/>
                </a:solidFill>
              </a:rPr>
              <a:t>Augmentation buys coverage, and pays for it in consistency.</a:t>
            </a:r>
          </a:p>
        </p:txBody>
      </p:sp>
      <p:sp>
        <p:nvSpPr>
          <p:cNvPr id="4" name="TextBox 3"/>
          <p:cNvSpPr txBox="1"/>
          <p:nvPr/>
        </p:nvSpPr>
        <p:spPr>
          <a:xfrm>
            <a:off x="658368" y="2029968"/>
            <a:ext cx="10874959" cy="4370832"/>
          </a:xfrm>
          <a:prstGeom prst="rect">
            <a:avLst/>
          </a:prstGeom>
          <a:noFill/>
        </p:spPr>
        <p:txBody>
          <a:bodyPr wrap="square">
            <a:spAutoFit/>
          </a:bodyPr>
          <a:lstStyle/>
          <a:p>
            <a:pPr>
              <a:spcAft>
                <a:spcPts val="1000"/>
              </a:spcAft>
            </a:pPr>
            <a:r>
              <a:rPr sz="1600">
                <a:solidFill>
                  <a:srgbClr val="16202A"/>
                </a:solidFill>
              </a:rPr>
              <a:t>Whether that trade is worth taking depends on how scarce the real photographs are. At five views the coverage is worth the inconsistency. By twenty it is not — and the same treatment that helped now harms.</a:t>
            </a:r>
          </a:p>
          <a:p>
            <a:pPr>
              <a:spcAft>
                <a:spcPts val="1000"/>
              </a:spcAft>
            </a:pPr>
            <a:r>
              <a:rPr sz="1400">
                <a:solidFill>
                  <a:srgbClr val="5C6E78"/>
                </a:solidFill>
              </a:rPr>
              <a:t>242 runs · 2 scenes · every held-out set hash-verified identical within its scene · code and full report in the repository.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